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embeddedFontLst>
    <p:embeddedFont>
      <p:font typeface="Play" pitchFamily="2" charset="0"/>
      <p:regular r:id="rId16"/>
      <p:bold r:id="rId1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mMrRfZLoJ/Q7Wcn3UE/dutv3w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4" d="100"/>
          <a:sy n="104" d="100"/>
        </p:scale>
        <p:origin x="232" y="5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915BA-5A61-46B8-A88D-44A7400E87B4}" type="doc">
      <dgm:prSet loTypeId="urn:microsoft.com/office/officeart/2005/8/layout/process5" loCatId="process" qsTypeId="urn:microsoft.com/office/officeart/2005/8/quickstyle/simple1#2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C0A0095B-548F-4B47-9B04-C39CA92487D8}">
      <dgm:prSet/>
      <dgm:spPr/>
      <dgm:t>
        <a:bodyPr/>
        <a:lstStyle/>
        <a:p>
          <a:r>
            <a:rPr lang="en-US" b="0" i="0"/>
            <a:t>• Pérdida de tiempo operativo.</a:t>
          </a:r>
          <a:endParaRPr lang="en-US"/>
        </a:p>
      </dgm:t>
    </dgm:pt>
    <dgm:pt modelId="{CCDA8600-0F45-4B60-82D7-AED49915A57F}" type="parTrans" cxnId="{2625ECF9-757B-4175-8C87-679B195D469D}">
      <dgm:prSet/>
      <dgm:spPr/>
      <dgm:t>
        <a:bodyPr/>
        <a:lstStyle/>
        <a:p>
          <a:endParaRPr lang="en-US"/>
        </a:p>
      </dgm:t>
    </dgm:pt>
    <dgm:pt modelId="{B63B3F35-A511-4894-87C9-EB46CC77CE56}" type="sibTrans" cxnId="{2625ECF9-757B-4175-8C87-679B195D469D}">
      <dgm:prSet/>
      <dgm:spPr/>
      <dgm:t>
        <a:bodyPr/>
        <a:lstStyle/>
        <a:p>
          <a:endParaRPr lang="en-US"/>
        </a:p>
      </dgm:t>
    </dgm:pt>
    <dgm:pt modelId="{C09E2733-D9BC-4832-9544-9DCF3546B65F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Dependencia</a:t>
          </a:r>
          <a:r>
            <a:rPr lang="en-US" b="0" i="0" dirty="0"/>
            <a:t> de una sola persona para </a:t>
          </a:r>
          <a:r>
            <a:rPr lang="en-US" b="0" i="0" dirty="0" err="1"/>
            <a:t>coordinar</a:t>
          </a:r>
          <a:r>
            <a:rPr lang="en-US" b="0" i="0" dirty="0"/>
            <a:t> </a:t>
          </a:r>
          <a:r>
            <a:rPr lang="en-US" b="0" i="0" dirty="0" err="1"/>
            <a:t>clientes</a:t>
          </a:r>
          <a:r>
            <a:rPr lang="en-US" b="0" i="0" dirty="0"/>
            <a:t>.</a:t>
          </a:r>
          <a:endParaRPr lang="en-US" dirty="0"/>
        </a:p>
      </dgm:t>
    </dgm:pt>
    <dgm:pt modelId="{22F2E653-3767-45DA-BCC0-E1F1075AD7B8}" type="parTrans" cxnId="{17850320-C1DF-405F-8D87-6DF60182F9B4}">
      <dgm:prSet/>
      <dgm:spPr/>
      <dgm:t>
        <a:bodyPr/>
        <a:lstStyle/>
        <a:p>
          <a:endParaRPr lang="en-US"/>
        </a:p>
      </dgm:t>
    </dgm:pt>
    <dgm:pt modelId="{F13915AB-2D2E-428B-82F7-26C603A16392}" type="sibTrans" cxnId="{17850320-C1DF-405F-8D87-6DF60182F9B4}">
      <dgm:prSet/>
      <dgm:spPr/>
      <dgm:t>
        <a:bodyPr/>
        <a:lstStyle/>
        <a:p>
          <a:endParaRPr lang="en-US"/>
        </a:p>
      </dgm:t>
    </dgm:pt>
    <dgm:pt modelId="{054227B2-B8C6-4F7C-890F-C33BB6EEA39D}">
      <dgm:prSet/>
      <dgm:spPr/>
      <dgm:t>
        <a:bodyPr/>
        <a:lstStyle/>
        <a:p>
          <a:r>
            <a:rPr lang="en-US" b="0" i="0"/>
            <a:t>• Falta de trazabilidad y estandarización del servicio.</a:t>
          </a:r>
          <a:endParaRPr lang="en-US"/>
        </a:p>
      </dgm:t>
    </dgm:pt>
    <dgm:pt modelId="{3F04BA11-0A50-4F1B-84B1-4B7140162603}" type="parTrans" cxnId="{43926FE8-FE97-4063-90E7-DB7B68BD2C1D}">
      <dgm:prSet/>
      <dgm:spPr/>
      <dgm:t>
        <a:bodyPr/>
        <a:lstStyle/>
        <a:p>
          <a:endParaRPr lang="en-US"/>
        </a:p>
      </dgm:t>
    </dgm:pt>
    <dgm:pt modelId="{4B7971C0-D048-4EE9-96B9-F0C29D0328C5}" type="sibTrans" cxnId="{43926FE8-FE97-4063-90E7-DB7B68BD2C1D}">
      <dgm:prSet/>
      <dgm:spPr/>
      <dgm:t>
        <a:bodyPr/>
        <a:lstStyle/>
        <a:p>
          <a:endParaRPr lang="en-US"/>
        </a:p>
      </dgm:t>
    </dgm:pt>
    <dgm:pt modelId="{D1F41FB6-7225-433A-91C5-827BDCA636F6}">
      <dgm:prSet/>
      <dgm:spPr/>
      <dgm:t>
        <a:bodyPr/>
        <a:lstStyle/>
        <a:p>
          <a:r>
            <a:rPr lang="en-US" b="0" i="0"/>
            <a:t>• Tiempos de respuesta más lentos para los clientes.</a:t>
          </a:r>
          <a:endParaRPr lang="en-US"/>
        </a:p>
      </dgm:t>
    </dgm:pt>
    <dgm:pt modelId="{9F25C1F2-AEE7-4F5E-B6B8-EF41B724EF88}" type="parTrans" cxnId="{4B925C88-C5DD-4E9D-B60E-EDE5A90A2798}">
      <dgm:prSet/>
      <dgm:spPr/>
      <dgm:t>
        <a:bodyPr/>
        <a:lstStyle/>
        <a:p>
          <a:endParaRPr lang="en-US"/>
        </a:p>
      </dgm:t>
    </dgm:pt>
    <dgm:pt modelId="{03C66B8B-FA2E-4663-AB47-909523E58223}" type="sibTrans" cxnId="{4B925C88-C5DD-4E9D-B60E-EDE5A90A2798}">
      <dgm:prSet/>
      <dgm:spPr/>
      <dgm:t>
        <a:bodyPr/>
        <a:lstStyle/>
        <a:p>
          <a:endParaRPr lang="en-US"/>
        </a:p>
      </dgm:t>
    </dgm:pt>
    <dgm:pt modelId="{08020ED1-39A7-634E-92F8-90B5F2F6D004}" type="pres">
      <dgm:prSet presAssocID="{030915BA-5A61-46B8-A88D-44A7400E87B4}" presName="diagram" presStyleCnt="0">
        <dgm:presLayoutVars>
          <dgm:dir/>
          <dgm:resizeHandles val="exact"/>
        </dgm:presLayoutVars>
      </dgm:prSet>
      <dgm:spPr/>
    </dgm:pt>
    <dgm:pt modelId="{C38B1B68-5F15-8A41-98C0-1C5068472866}" type="pres">
      <dgm:prSet presAssocID="{C0A0095B-548F-4B47-9B04-C39CA92487D8}" presName="node" presStyleLbl="node1" presStyleIdx="0" presStyleCnt="4">
        <dgm:presLayoutVars>
          <dgm:bulletEnabled val="1"/>
        </dgm:presLayoutVars>
      </dgm:prSet>
      <dgm:spPr/>
    </dgm:pt>
    <dgm:pt modelId="{3793B6F6-B0D1-D74E-89FA-9D8107B8BBBA}" type="pres">
      <dgm:prSet presAssocID="{B63B3F35-A511-4894-87C9-EB46CC77CE56}" presName="sibTrans" presStyleLbl="sibTrans2D1" presStyleIdx="0" presStyleCnt="3"/>
      <dgm:spPr/>
    </dgm:pt>
    <dgm:pt modelId="{66D7F134-AAA9-8340-8E13-0BE4710524A9}" type="pres">
      <dgm:prSet presAssocID="{B63B3F35-A511-4894-87C9-EB46CC77CE56}" presName="connectorText" presStyleLbl="sibTrans2D1" presStyleIdx="0" presStyleCnt="3"/>
      <dgm:spPr/>
    </dgm:pt>
    <dgm:pt modelId="{0A072DC4-5837-0D4B-B81C-4B00FF8D21FB}" type="pres">
      <dgm:prSet presAssocID="{C09E2733-D9BC-4832-9544-9DCF3546B65F}" presName="node" presStyleLbl="node1" presStyleIdx="1" presStyleCnt="4">
        <dgm:presLayoutVars>
          <dgm:bulletEnabled val="1"/>
        </dgm:presLayoutVars>
      </dgm:prSet>
      <dgm:spPr/>
    </dgm:pt>
    <dgm:pt modelId="{D3B91FD9-CFAC-5C46-AD29-287BCB7F2E6C}" type="pres">
      <dgm:prSet presAssocID="{F13915AB-2D2E-428B-82F7-26C603A16392}" presName="sibTrans" presStyleLbl="sibTrans2D1" presStyleIdx="1" presStyleCnt="3"/>
      <dgm:spPr/>
    </dgm:pt>
    <dgm:pt modelId="{83F8EFDD-4F92-894A-96FA-D42E7C910EDA}" type="pres">
      <dgm:prSet presAssocID="{F13915AB-2D2E-428B-82F7-26C603A16392}" presName="connectorText" presStyleLbl="sibTrans2D1" presStyleIdx="1" presStyleCnt="3"/>
      <dgm:spPr/>
    </dgm:pt>
    <dgm:pt modelId="{5EBE3808-02CD-5349-AA60-92EB7F3E4B66}" type="pres">
      <dgm:prSet presAssocID="{054227B2-B8C6-4F7C-890F-C33BB6EEA39D}" presName="node" presStyleLbl="node1" presStyleIdx="2" presStyleCnt="4">
        <dgm:presLayoutVars>
          <dgm:bulletEnabled val="1"/>
        </dgm:presLayoutVars>
      </dgm:prSet>
      <dgm:spPr/>
    </dgm:pt>
    <dgm:pt modelId="{AC258D29-3F27-3B4C-BC8D-26905562335A}" type="pres">
      <dgm:prSet presAssocID="{4B7971C0-D048-4EE9-96B9-F0C29D0328C5}" presName="sibTrans" presStyleLbl="sibTrans2D1" presStyleIdx="2" presStyleCnt="3"/>
      <dgm:spPr/>
    </dgm:pt>
    <dgm:pt modelId="{A1C44BBB-7B1A-2547-8D72-8198A99D191D}" type="pres">
      <dgm:prSet presAssocID="{4B7971C0-D048-4EE9-96B9-F0C29D0328C5}" presName="connectorText" presStyleLbl="sibTrans2D1" presStyleIdx="2" presStyleCnt="3"/>
      <dgm:spPr/>
    </dgm:pt>
    <dgm:pt modelId="{A6C7D538-25A0-0A46-BB85-A996B94B75B3}" type="pres">
      <dgm:prSet presAssocID="{D1F41FB6-7225-433A-91C5-827BDCA636F6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DFE04-B429-EE45-94BB-82B308ED8CCD}" type="presOf" srcId="{C0A0095B-548F-4B47-9B04-C39CA92487D8}" destId="{C38B1B68-5F15-8A41-98C0-1C5068472866}" srcOrd="0" destOrd="0" presId="urn:microsoft.com/office/officeart/2005/8/layout/process5"/>
    <dgm:cxn modelId="{E2B02F10-F357-FE48-9492-4BE4F3DBA751}" type="presOf" srcId="{4B7971C0-D048-4EE9-96B9-F0C29D0328C5}" destId="{AC258D29-3F27-3B4C-BC8D-26905562335A}" srcOrd="0" destOrd="0" presId="urn:microsoft.com/office/officeart/2005/8/layout/process5"/>
    <dgm:cxn modelId="{74C20B18-0CDF-FE4D-B861-9D7B22848436}" type="presOf" srcId="{054227B2-B8C6-4F7C-890F-C33BB6EEA39D}" destId="{5EBE3808-02CD-5349-AA60-92EB7F3E4B66}" srcOrd="0" destOrd="0" presId="urn:microsoft.com/office/officeart/2005/8/layout/process5"/>
    <dgm:cxn modelId="{17850320-C1DF-405F-8D87-6DF60182F9B4}" srcId="{030915BA-5A61-46B8-A88D-44A7400E87B4}" destId="{C09E2733-D9BC-4832-9544-9DCF3546B65F}" srcOrd="1" destOrd="0" parTransId="{22F2E653-3767-45DA-BCC0-E1F1075AD7B8}" sibTransId="{F13915AB-2D2E-428B-82F7-26C603A16392}"/>
    <dgm:cxn modelId="{BFDBD03A-C4C6-4647-8E06-2B6D2176AE96}" type="presOf" srcId="{D1F41FB6-7225-433A-91C5-827BDCA636F6}" destId="{A6C7D538-25A0-0A46-BB85-A996B94B75B3}" srcOrd="0" destOrd="0" presId="urn:microsoft.com/office/officeart/2005/8/layout/process5"/>
    <dgm:cxn modelId="{44BBAB40-9A27-E342-80CE-362366717915}" type="presOf" srcId="{030915BA-5A61-46B8-A88D-44A7400E87B4}" destId="{08020ED1-39A7-634E-92F8-90B5F2F6D004}" srcOrd="0" destOrd="0" presId="urn:microsoft.com/office/officeart/2005/8/layout/process5"/>
    <dgm:cxn modelId="{7E069D6F-B4B4-5440-8BD6-ACA2C2F8AA92}" type="presOf" srcId="{B63B3F35-A511-4894-87C9-EB46CC77CE56}" destId="{3793B6F6-B0D1-D74E-89FA-9D8107B8BBBA}" srcOrd="0" destOrd="0" presId="urn:microsoft.com/office/officeart/2005/8/layout/process5"/>
    <dgm:cxn modelId="{4B925C88-C5DD-4E9D-B60E-EDE5A90A2798}" srcId="{030915BA-5A61-46B8-A88D-44A7400E87B4}" destId="{D1F41FB6-7225-433A-91C5-827BDCA636F6}" srcOrd="3" destOrd="0" parTransId="{9F25C1F2-AEE7-4F5E-B6B8-EF41B724EF88}" sibTransId="{03C66B8B-FA2E-4663-AB47-909523E58223}"/>
    <dgm:cxn modelId="{ED182C8F-EFC4-C848-8F36-CB9763948E50}" type="presOf" srcId="{B63B3F35-A511-4894-87C9-EB46CC77CE56}" destId="{66D7F134-AAA9-8340-8E13-0BE4710524A9}" srcOrd="1" destOrd="0" presId="urn:microsoft.com/office/officeart/2005/8/layout/process5"/>
    <dgm:cxn modelId="{27C643B2-D690-7A44-9CED-C44CF311CC90}" type="presOf" srcId="{F13915AB-2D2E-428B-82F7-26C603A16392}" destId="{83F8EFDD-4F92-894A-96FA-D42E7C910EDA}" srcOrd="1" destOrd="0" presId="urn:microsoft.com/office/officeart/2005/8/layout/process5"/>
    <dgm:cxn modelId="{884A7ADE-2435-7D40-A9EF-FB2F0F5A52BD}" type="presOf" srcId="{C09E2733-D9BC-4832-9544-9DCF3546B65F}" destId="{0A072DC4-5837-0D4B-B81C-4B00FF8D21FB}" srcOrd="0" destOrd="0" presId="urn:microsoft.com/office/officeart/2005/8/layout/process5"/>
    <dgm:cxn modelId="{7711C6DE-FFDA-2A44-B2EE-9775369868E2}" type="presOf" srcId="{4B7971C0-D048-4EE9-96B9-F0C29D0328C5}" destId="{A1C44BBB-7B1A-2547-8D72-8198A99D191D}" srcOrd="1" destOrd="0" presId="urn:microsoft.com/office/officeart/2005/8/layout/process5"/>
    <dgm:cxn modelId="{3448E2E6-4DF6-7745-9886-1683DE14425B}" type="presOf" srcId="{F13915AB-2D2E-428B-82F7-26C603A16392}" destId="{D3B91FD9-CFAC-5C46-AD29-287BCB7F2E6C}" srcOrd="0" destOrd="0" presId="urn:microsoft.com/office/officeart/2005/8/layout/process5"/>
    <dgm:cxn modelId="{43926FE8-FE97-4063-90E7-DB7B68BD2C1D}" srcId="{030915BA-5A61-46B8-A88D-44A7400E87B4}" destId="{054227B2-B8C6-4F7C-890F-C33BB6EEA39D}" srcOrd="2" destOrd="0" parTransId="{3F04BA11-0A50-4F1B-84B1-4B7140162603}" sibTransId="{4B7971C0-D048-4EE9-96B9-F0C29D0328C5}"/>
    <dgm:cxn modelId="{2625ECF9-757B-4175-8C87-679B195D469D}" srcId="{030915BA-5A61-46B8-A88D-44A7400E87B4}" destId="{C0A0095B-548F-4B47-9B04-C39CA92487D8}" srcOrd="0" destOrd="0" parTransId="{CCDA8600-0F45-4B60-82D7-AED49915A57F}" sibTransId="{B63B3F35-A511-4894-87C9-EB46CC77CE56}"/>
    <dgm:cxn modelId="{1084F6EF-B449-CF48-B757-E8C4F51F215F}" type="presParOf" srcId="{08020ED1-39A7-634E-92F8-90B5F2F6D004}" destId="{C38B1B68-5F15-8A41-98C0-1C5068472866}" srcOrd="0" destOrd="0" presId="urn:microsoft.com/office/officeart/2005/8/layout/process5"/>
    <dgm:cxn modelId="{4398505C-A70A-8D4C-942D-5F92491C38C2}" type="presParOf" srcId="{08020ED1-39A7-634E-92F8-90B5F2F6D004}" destId="{3793B6F6-B0D1-D74E-89FA-9D8107B8BBBA}" srcOrd="1" destOrd="0" presId="urn:microsoft.com/office/officeart/2005/8/layout/process5"/>
    <dgm:cxn modelId="{A1F8886B-27FA-4347-9D4C-2201D80AF5B6}" type="presParOf" srcId="{3793B6F6-B0D1-D74E-89FA-9D8107B8BBBA}" destId="{66D7F134-AAA9-8340-8E13-0BE4710524A9}" srcOrd="0" destOrd="0" presId="urn:microsoft.com/office/officeart/2005/8/layout/process5"/>
    <dgm:cxn modelId="{37AC34A6-C542-4B4F-8FA1-0E08F530A44C}" type="presParOf" srcId="{08020ED1-39A7-634E-92F8-90B5F2F6D004}" destId="{0A072DC4-5837-0D4B-B81C-4B00FF8D21FB}" srcOrd="2" destOrd="0" presId="urn:microsoft.com/office/officeart/2005/8/layout/process5"/>
    <dgm:cxn modelId="{4E25FD64-D479-DD40-A7E1-6AEDAB0680D8}" type="presParOf" srcId="{08020ED1-39A7-634E-92F8-90B5F2F6D004}" destId="{D3B91FD9-CFAC-5C46-AD29-287BCB7F2E6C}" srcOrd="3" destOrd="0" presId="urn:microsoft.com/office/officeart/2005/8/layout/process5"/>
    <dgm:cxn modelId="{221AD8E1-2DC4-2846-A7B5-5CD422CD021E}" type="presParOf" srcId="{D3B91FD9-CFAC-5C46-AD29-287BCB7F2E6C}" destId="{83F8EFDD-4F92-894A-96FA-D42E7C910EDA}" srcOrd="0" destOrd="0" presId="urn:microsoft.com/office/officeart/2005/8/layout/process5"/>
    <dgm:cxn modelId="{30ECC9D6-878E-544A-BC9E-BE6EB05AF8AB}" type="presParOf" srcId="{08020ED1-39A7-634E-92F8-90B5F2F6D004}" destId="{5EBE3808-02CD-5349-AA60-92EB7F3E4B66}" srcOrd="4" destOrd="0" presId="urn:microsoft.com/office/officeart/2005/8/layout/process5"/>
    <dgm:cxn modelId="{0E21C830-BE42-524B-B335-B697D106AA8E}" type="presParOf" srcId="{08020ED1-39A7-634E-92F8-90B5F2F6D004}" destId="{AC258D29-3F27-3B4C-BC8D-26905562335A}" srcOrd="5" destOrd="0" presId="urn:microsoft.com/office/officeart/2005/8/layout/process5"/>
    <dgm:cxn modelId="{C044318F-20E7-6D48-8B74-8929D689B90E}" type="presParOf" srcId="{AC258D29-3F27-3B4C-BC8D-26905562335A}" destId="{A1C44BBB-7B1A-2547-8D72-8198A99D191D}" srcOrd="0" destOrd="0" presId="urn:microsoft.com/office/officeart/2005/8/layout/process5"/>
    <dgm:cxn modelId="{FCE69C61-F1F8-0442-9A72-30FC6788A302}" type="presParOf" srcId="{08020ED1-39A7-634E-92F8-90B5F2F6D004}" destId="{A6C7D538-25A0-0A46-BB85-A996B94B75B3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4A065F-5EF6-44C2-95C2-B25AA84B457E}" type="doc">
      <dgm:prSet loTypeId="urn:microsoft.com/office/officeart/2005/8/layout/hierarchy1" loCatId="hierarchy" qsTypeId="urn:microsoft.com/office/officeart/2005/8/quickstyle/simple1#7" qsCatId="simple" csTypeId="urn:microsoft.com/office/officeart/2005/8/colors/accent1_2#7" csCatId="accent1"/>
      <dgm:spPr/>
      <dgm:t>
        <a:bodyPr/>
        <a:lstStyle/>
        <a:p>
          <a:endParaRPr lang="en-US"/>
        </a:p>
      </dgm:t>
    </dgm:pt>
    <dgm:pt modelId="{400E0BA7-50DB-469E-8C2E-4B2E13EB9129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Diseñar</a:t>
          </a:r>
          <a:r>
            <a:rPr lang="en-US" b="0" i="0" dirty="0"/>
            <a:t> una </a:t>
          </a:r>
          <a:r>
            <a:rPr lang="en-US" b="0" i="0" dirty="0" err="1"/>
            <a:t>arquitectura</a:t>
          </a:r>
          <a:r>
            <a:rPr lang="en-US" b="0" i="0" dirty="0"/>
            <a:t> de datos </a:t>
          </a:r>
          <a:r>
            <a:rPr lang="en-US" b="0" i="0" dirty="0" err="1"/>
            <a:t>relacional</a:t>
          </a:r>
          <a:r>
            <a:rPr lang="en-US" b="0" i="0" dirty="0"/>
            <a:t> y </a:t>
          </a:r>
          <a:r>
            <a:rPr lang="en-US" b="0" i="0" dirty="0" err="1"/>
            <a:t>geoespacial</a:t>
          </a:r>
          <a:r>
            <a:rPr lang="en-US" b="0" i="0" dirty="0"/>
            <a:t>.</a:t>
          </a:r>
          <a:endParaRPr lang="en-US" dirty="0"/>
        </a:p>
      </dgm:t>
    </dgm:pt>
    <dgm:pt modelId="{CEDE6CE2-0A20-4B87-9E61-FB8861BB7077}" type="parTrans" cxnId="{7679406F-ED58-4B7A-BD6F-97DAF036B3A9}">
      <dgm:prSet/>
      <dgm:spPr/>
      <dgm:t>
        <a:bodyPr/>
        <a:lstStyle/>
        <a:p>
          <a:endParaRPr lang="en-US"/>
        </a:p>
      </dgm:t>
    </dgm:pt>
    <dgm:pt modelId="{D3CAEA63-27D8-4C4D-ACE7-F9E754539E7F}" type="sibTrans" cxnId="{7679406F-ED58-4B7A-BD6F-97DAF036B3A9}">
      <dgm:prSet/>
      <dgm:spPr/>
      <dgm:t>
        <a:bodyPr/>
        <a:lstStyle/>
        <a:p>
          <a:endParaRPr lang="en-US"/>
        </a:p>
      </dgm:t>
    </dgm:pt>
    <dgm:pt modelId="{A25FC65F-6951-48A2-945A-57F3D1DC8A14}">
      <dgm:prSet/>
      <dgm:spPr/>
      <dgm:t>
        <a:bodyPr/>
        <a:lstStyle/>
        <a:p>
          <a:r>
            <a:rPr lang="en-US" b="0" i="0"/>
            <a:t>• Implementar un agente conversacional con IA integrado a WhatsApp.</a:t>
          </a:r>
          <a:endParaRPr lang="en-US"/>
        </a:p>
      </dgm:t>
    </dgm:pt>
    <dgm:pt modelId="{27247826-A7A4-4EFD-9234-35607E83F023}" type="parTrans" cxnId="{E7B89E53-68DF-4109-8672-04804883C779}">
      <dgm:prSet/>
      <dgm:spPr/>
      <dgm:t>
        <a:bodyPr/>
        <a:lstStyle/>
        <a:p>
          <a:endParaRPr lang="en-US"/>
        </a:p>
      </dgm:t>
    </dgm:pt>
    <dgm:pt modelId="{99F5088A-3182-4891-BBC2-2DD7D718AEA5}" type="sibTrans" cxnId="{E7B89E53-68DF-4109-8672-04804883C779}">
      <dgm:prSet/>
      <dgm:spPr/>
      <dgm:t>
        <a:bodyPr/>
        <a:lstStyle/>
        <a:p>
          <a:endParaRPr lang="en-US"/>
        </a:p>
      </dgm:t>
    </dgm:pt>
    <dgm:pt modelId="{5ECF3F63-F5D2-46D1-A6DF-A91FB4BD4C0A}">
      <dgm:prSet/>
      <dgm:spPr/>
      <dgm:t>
        <a:bodyPr/>
        <a:lstStyle/>
        <a:p>
          <a:r>
            <a:rPr lang="en-US" b="0" i="0"/>
            <a:t>• Desarrollar la generación asistida de croquis.</a:t>
          </a:r>
          <a:endParaRPr lang="en-US"/>
        </a:p>
      </dgm:t>
    </dgm:pt>
    <dgm:pt modelId="{706C6BEE-BC5A-462E-B21D-6C22C51023E0}" type="parTrans" cxnId="{FD7C2A71-6B3E-43FF-A010-48EE75AE451D}">
      <dgm:prSet/>
      <dgm:spPr/>
      <dgm:t>
        <a:bodyPr/>
        <a:lstStyle/>
        <a:p>
          <a:endParaRPr lang="en-US"/>
        </a:p>
      </dgm:t>
    </dgm:pt>
    <dgm:pt modelId="{255C3918-3B9C-4F69-8446-8B5CEF8E62ED}" type="sibTrans" cxnId="{FD7C2A71-6B3E-43FF-A010-48EE75AE451D}">
      <dgm:prSet/>
      <dgm:spPr/>
      <dgm:t>
        <a:bodyPr/>
        <a:lstStyle/>
        <a:p>
          <a:endParaRPr lang="en-US"/>
        </a:p>
      </dgm:t>
    </dgm:pt>
    <dgm:pt modelId="{0A6BCD68-E360-4397-A6A2-1A9AE002A5DE}">
      <dgm:prSet/>
      <dgm:spPr/>
      <dgm:t>
        <a:bodyPr/>
        <a:lstStyle/>
        <a:p>
          <a:r>
            <a:rPr lang="en-US" b="0" i="0"/>
            <a:t>• Construir panel web y aplicación móvil para los operadores.</a:t>
          </a:r>
          <a:endParaRPr lang="en-US"/>
        </a:p>
      </dgm:t>
    </dgm:pt>
    <dgm:pt modelId="{7538B00B-D9C3-4BEE-A06D-0E3651B8D60A}" type="parTrans" cxnId="{F158F9C8-BE81-46C9-98B7-E1334872C777}">
      <dgm:prSet/>
      <dgm:spPr/>
      <dgm:t>
        <a:bodyPr/>
        <a:lstStyle/>
        <a:p>
          <a:endParaRPr lang="en-US"/>
        </a:p>
      </dgm:t>
    </dgm:pt>
    <dgm:pt modelId="{75402259-1551-4596-B700-15BD4338037B}" type="sibTrans" cxnId="{F158F9C8-BE81-46C9-98B7-E1334872C777}">
      <dgm:prSet/>
      <dgm:spPr/>
      <dgm:t>
        <a:bodyPr/>
        <a:lstStyle/>
        <a:p>
          <a:endParaRPr lang="en-US"/>
        </a:p>
      </dgm:t>
    </dgm:pt>
    <dgm:pt modelId="{9B2B1CDB-6638-4B33-A577-9DF4E3C7A7EE}">
      <dgm:prSet/>
      <dgm:spPr/>
      <dgm:t>
        <a:bodyPr/>
        <a:lstStyle/>
        <a:p>
          <a:r>
            <a:rPr lang="en-US" b="0" i="0"/>
            <a:t>• Levantar requisitos y documentar el proceso AS-IS.</a:t>
          </a:r>
          <a:endParaRPr lang="en-US"/>
        </a:p>
      </dgm:t>
    </dgm:pt>
    <dgm:pt modelId="{D0116941-69F0-4E8E-834A-662E6E74C166}" type="parTrans" cxnId="{8BAD8253-19B0-4FD4-881B-DE4764DE5F90}">
      <dgm:prSet/>
      <dgm:spPr/>
      <dgm:t>
        <a:bodyPr/>
        <a:lstStyle/>
        <a:p>
          <a:endParaRPr lang="en-US"/>
        </a:p>
      </dgm:t>
    </dgm:pt>
    <dgm:pt modelId="{2BC72F13-5DA5-4693-A65A-F04B8F7DAECB}" type="sibTrans" cxnId="{8BAD8253-19B0-4FD4-881B-DE4764DE5F90}">
      <dgm:prSet/>
      <dgm:spPr/>
      <dgm:t>
        <a:bodyPr/>
        <a:lstStyle/>
        <a:p>
          <a:endParaRPr lang="en-US"/>
        </a:p>
      </dgm:t>
    </dgm:pt>
    <dgm:pt modelId="{EA86A4E9-4D61-9F4F-8408-242121FCDB9D}" type="pres">
      <dgm:prSet presAssocID="{094A065F-5EF6-44C2-95C2-B25AA84B457E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B4F0EFA4-0454-B941-8BB0-9100698BBF4B}" type="pres">
      <dgm:prSet presAssocID="{400E0BA7-50DB-469E-8C2E-4B2E13EB9129}" presName="hierRoot1" presStyleCnt="0"/>
      <dgm:spPr/>
    </dgm:pt>
    <dgm:pt modelId="{62387054-FDAC-7E4F-B74D-F271D91A2E3F}" type="pres">
      <dgm:prSet presAssocID="{400E0BA7-50DB-469E-8C2E-4B2E13EB9129}" presName="composite" presStyleCnt="0"/>
      <dgm:spPr/>
    </dgm:pt>
    <dgm:pt modelId="{D817EB4B-4228-3749-922E-96766C27DD8E}" type="pres">
      <dgm:prSet presAssocID="{400E0BA7-50DB-469E-8C2E-4B2E13EB9129}" presName="background" presStyleLbl="node0" presStyleIdx="0" presStyleCnt="5"/>
      <dgm:spPr/>
    </dgm:pt>
    <dgm:pt modelId="{5C74488D-57C5-B44E-8C2A-F9189AD0B947}" type="pres">
      <dgm:prSet presAssocID="{400E0BA7-50DB-469E-8C2E-4B2E13EB9129}" presName="text" presStyleLbl="fgAcc0" presStyleIdx="0" presStyleCnt="5">
        <dgm:presLayoutVars>
          <dgm:chPref val="3"/>
        </dgm:presLayoutVars>
      </dgm:prSet>
      <dgm:spPr/>
    </dgm:pt>
    <dgm:pt modelId="{87E66553-7F1E-B549-80FE-B46216A9B795}" type="pres">
      <dgm:prSet presAssocID="{400E0BA7-50DB-469E-8C2E-4B2E13EB9129}" presName="hierChild2" presStyleCnt="0"/>
      <dgm:spPr/>
    </dgm:pt>
    <dgm:pt modelId="{E254F5F5-994E-9544-9247-0AA5E91F2BAB}" type="pres">
      <dgm:prSet presAssocID="{A25FC65F-6951-48A2-945A-57F3D1DC8A14}" presName="hierRoot1" presStyleCnt="0"/>
      <dgm:spPr/>
    </dgm:pt>
    <dgm:pt modelId="{06B9E654-900F-9F43-B391-2F9FA93A6B3B}" type="pres">
      <dgm:prSet presAssocID="{A25FC65F-6951-48A2-945A-57F3D1DC8A14}" presName="composite" presStyleCnt="0"/>
      <dgm:spPr/>
    </dgm:pt>
    <dgm:pt modelId="{8F6FA778-49A8-9748-B28D-FBA87F2BE60D}" type="pres">
      <dgm:prSet presAssocID="{A25FC65F-6951-48A2-945A-57F3D1DC8A14}" presName="background" presStyleLbl="node0" presStyleIdx="1" presStyleCnt="5"/>
      <dgm:spPr/>
    </dgm:pt>
    <dgm:pt modelId="{9FD741D8-5164-DF4A-ACE5-C5657802C571}" type="pres">
      <dgm:prSet presAssocID="{A25FC65F-6951-48A2-945A-57F3D1DC8A14}" presName="text" presStyleLbl="fgAcc0" presStyleIdx="1" presStyleCnt="5">
        <dgm:presLayoutVars>
          <dgm:chPref val="3"/>
        </dgm:presLayoutVars>
      </dgm:prSet>
      <dgm:spPr/>
    </dgm:pt>
    <dgm:pt modelId="{EE08A927-3DCE-CD4E-BF54-3D3E2DE0C924}" type="pres">
      <dgm:prSet presAssocID="{A25FC65F-6951-48A2-945A-57F3D1DC8A14}" presName="hierChild2" presStyleCnt="0"/>
      <dgm:spPr/>
    </dgm:pt>
    <dgm:pt modelId="{6F8E0A2F-90BC-3443-88F9-6530794F6DD4}" type="pres">
      <dgm:prSet presAssocID="{5ECF3F63-F5D2-46D1-A6DF-A91FB4BD4C0A}" presName="hierRoot1" presStyleCnt="0"/>
      <dgm:spPr/>
    </dgm:pt>
    <dgm:pt modelId="{2A53F9C7-6846-814A-A9F0-7F0B76A6B004}" type="pres">
      <dgm:prSet presAssocID="{5ECF3F63-F5D2-46D1-A6DF-A91FB4BD4C0A}" presName="composite" presStyleCnt="0"/>
      <dgm:spPr/>
    </dgm:pt>
    <dgm:pt modelId="{ECA4EA4E-6486-0D45-A532-BF1F4621F5A1}" type="pres">
      <dgm:prSet presAssocID="{5ECF3F63-F5D2-46D1-A6DF-A91FB4BD4C0A}" presName="background" presStyleLbl="node0" presStyleIdx="2" presStyleCnt="5"/>
      <dgm:spPr/>
    </dgm:pt>
    <dgm:pt modelId="{C788F0DE-96BE-234F-B94A-60C2CF1E47A9}" type="pres">
      <dgm:prSet presAssocID="{5ECF3F63-F5D2-46D1-A6DF-A91FB4BD4C0A}" presName="text" presStyleLbl="fgAcc0" presStyleIdx="2" presStyleCnt="5">
        <dgm:presLayoutVars>
          <dgm:chPref val="3"/>
        </dgm:presLayoutVars>
      </dgm:prSet>
      <dgm:spPr/>
    </dgm:pt>
    <dgm:pt modelId="{34B6D67D-94E6-5E41-9D56-97B3F3DE451F}" type="pres">
      <dgm:prSet presAssocID="{5ECF3F63-F5D2-46D1-A6DF-A91FB4BD4C0A}" presName="hierChild2" presStyleCnt="0"/>
      <dgm:spPr/>
    </dgm:pt>
    <dgm:pt modelId="{D7346476-93F1-E64B-8740-90A881B9FF16}" type="pres">
      <dgm:prSet presAssocID="{0A6BCD68-E360-4397-A6A2-1A9AE002A5DE}" presName="hierRoot1" presStyleCnt="0"/>
      <dgm:spPr/>
    </dgm:pt>
    <dgm:pt modelId="{4D50DCAA-9704-0245-9D56-1D7CECD6F195}" type="pres">
      <dgm:prSet presAssocID="{0A6BCD68-E360-4397-A6A2-1A9AE002A5DE}" presName="composite" presStyleCnt="0"/>
      <dgm:spPr/>
    </dgm:pt>
    <dgm:pt modelId="{313CF2E2-3BCF-684E-807E-5CB722FAF635}" type="pres">
      <dgm:prSet presAssocID="{0A6BCD68-E360-4397-A6A2-1A9AE002A5DE}" presName="background" presStyleLbl="node0" presStyleIdx="3" presStyleCnt="5"/>
      <dgm:spPr/>
    </dgm:pt>
    <dgm:pt modelId="{6CCBD952-146E-D246-B1D9-B3D046602398}" type="pres">
      <dgm:prSet presAssocID="{0A6BCD68-E360-4397-A6A2-1A9AE002A5DE}" presName="text" presStyleLbl="fgAcc0" presStyleIdx="3" presStyleCnt="5">
        <dgm:presLayoutVars>
          <dgm:chPref val="3"/>
        </dgm:presLayoutVars>
      </dgm:prSet>
      <dgm:spPr/>
    </dgm:pt>
    <dgm:pt modelId="{7C6574E2-0908-4E47-9633-5C607AE0AE5D}" type="pres">
      <dgm:prSet presAssocID="{0A6BCD68-E360-4397-A6A2-1A9AE002A5DE}" presName="hierChild2" presStyleCnt="0"/>
      <dgm:spPr/>
    </dgm:pt>
    <dgm:pt modelId="{505595E6-138D-4E4B-A35D-D00D1AA55078}" type="pres">
      <dgm:prSet presAssocID="{9B2B1CDB-6638-4B33-A577-9DF4E3C7A7EE}" presName="hierRoot1" presStyleCnt="0"/>
      <dgm:spPr/>
    </dgm:pt>
    <dgm:pt modelId="{5EA1A198-E09E-9748-ACD2-9A2FA820E87C}" type="pres">
      <dgm:prSet presAssocID="{9B2B1CDB-6638-4B33-A577-9DF4E3C7A7EE}" presName="composite" presStyleCnt="0"/>
      <dgm:spPr/>
    </dgm:pt>
    <dgm:pt modelId="{75F05549-D38D-5149-BC46-3FFB73F77F22}" type="pres">
      <dgm:prSet presAssocID="{9B2B1CDB-6638-4B33-A577-9DF4E3C7A7EE}" presName="background" presStyleLbl="node0" presStyleIdx="4" presStyleCnt="5"/>
      <dgm:spPr/>
    </dgm:pt>
    <dgm:pt modelId="{B2A371BE-B0FC-ED4C-BDF7-C21515812C8B}" type="pres">
      <dgm:prSet presAssocID="{9B2B1CDB-6638-4B33-A577-9DF4E3C7A7EE}" presName="text" presStyleLbl="fgAcc0" presStyleIdx="4" presStyleCnt="5">
        <dgm:presLayoutVars>
          <dgm:chPref val="3"/>
        </dgm:presLayoutVars>
      </dgm:prSet>
      <dgm:spPr/>
    </dgm:pt>
    <dgm:pt modelId="{B3CF21DD-F7EA-0448-9ADE-C4838A3BD986}" type="pres">
      <dgm:prSet presAssocID="{9B2B1CDB-6638-4B33-A577-9DF4E3C7A7EE}" presName="hierChild2" presStyleCnt="0"/>
      <dgm:spPr/>
    </dgm:pt>
  </dgm:ptLst>
  <dgm:cxnLst>
    <dgm:cxn modelId="{FDF49C51-4A33-A74C-B3E9-6BC33F16C1B1}" type="presOf" srcId="{0A6BCD68-E360-4397-A6A2-1A9AE002A5DE}" destId="{6CCBD952-146E-D246-B1D9-B3D046602398}" srcOrd="0" destOrd="0" presId="urn:microsoft.com/office/officeart/2005/8/layout/hierarchy1"/>
    <dgm:cxn modelId="{8BAD8253-19B0-4FD4-881B-DE4764DE5F90}" srcId="{094A065F-5EF6-44C2-95C2-B25AA84B457E}" destId="{9B2B1CDB-6638-4B33-A577-9DF4E3C7A7EE}" srcOrd="4" destOrd="0" parTransId="{D0116941-69F0-4E8E-834A-662E6E74C166}" sibTransId="{2BC72F13-5DA5-4693-A65A-F04B8F7DAECB}"/>
    <dgm:cxn modelId="{E7B89E53-68DF-4109-8672-04804883C779}" srcId="{094A065F-5EF6-44C2-95C2-B25AA84B457E}" destId="{A25FC65F-6951-48A2-945A-57F3D1DC8A14}" srcOrd="1" destOrd="0" parTransId="{27247826-A7A4-4EFD-9234-35607E83F023}" sibTransId="{99F5088A-3182-4891-BBC2-2DD7D718AEA5}"/>
    <dgm:cxn modelId="{E5EA746A-40DB-644F-804D-A3098F9FD131}" type="presOf" srcId="{094A065F-5EF6-44C2-95C2-B25AA84B457E}" destId="{EA86A4E9-4D61-9F4F-8408-242121FCDB9D}" srcOrd="0" destOrd="0" presId="urn:microsoft.com/office/officeart/2005/8/layout/hierarchy1"/>
    <dgm:cxn modelId="{7679406F-ED58-4B7A-BD6F-97DAF036B3A9}" srcId="{094A065F-5EF6-44C2-95C2-B25AA84B457E}" destId="{400E0BA7-50DB-469E-8C2E-4B2E13EB9129}" srcOrd="0" destOrd="0" parTransId="{CEDE6CE2-0A20-4B87-9E61-FB8861BB7077}" sibTransId="{D3CAEA63-27D8-4C4D-ACE7-F9E754539E7F}"/>
    <dgm:cxn modelId="{FD7C2A71-6B3E-43FF-A010-48EE75AE451D}" srcId="{094A065F-5EF6-44C2-95C2-B25AA84B457E}" destId="{5ECF3F63-F5D2-46D1-A6DF-A91FB4BD4C0A}" srcOrd="2" destOrd="0" parTransId="{706C6BEE-BC5A-462E-B21D-6C22C51023E0}" sibTransId="{255C3918-3B9C-4F69-8446-8B5CEF8E62ED}"/>
    <dgm:cxn modelId="{BA87EF7E-8C02-6749-B371-62AA2F5FC2C0}" type="presOf" srcId="{A25FC65F-6951-48A2-945A-57F3D1DC8A14}" destId="{9FD741D8-5164-DF4A-ACE5-C5657802C571}" srcOrd="0" destOrd="0" presId="urn:microsoft.com/office/officeart/2005/8/layout/hierarchy1"/>
    <dgm:cxn modelId="{5F80A1A1-C338-D04E-BF0B-5A245BD9A745}" type="presOf" srcId="{5ECF3F63-F5D2-46D1-A6DF-A91FB4BD4C0A}" destId="{C788F0DE-96BE-234F-B94A-60C2CF1E47A9}" srcOrd="0" destOrd="0" presId="urn:microsoft.com/office/officeart/2005/8/layout/hierarchy1"/>
    <dgm:cxn modelId="{F158F9C8-BE81-46C9-98B7-E1334872C777}" srcId="{094A065F-5EF6-44C2-95C2-B25AA84B457E}" destId="{0A6BCD68-E360-4397-A6A2-1A9AE002A5DE}" srcOrd="3" destOrd="0" parTransId="{7538B00B-D9C3-4BEE-A06D-0E3651B8D60A}" sibTransId="{75402259-1551-4596-B700-15BD4338037B}"/>
    <dgm:cxn modelId="{A6D915CB-5F1E-9644-9E9E-4094FF74AAF5}" type="presOf" srcId="{400E0BA7-50DB-469E-8C2E-4B2E13EB9129}" destId="{5C74488D-57C5-B44E-8C2A-F9189AD0B947}" srcOrd="0" destOrd="0" presId="urn:microsoft.com/office/officeart/2005/8/layout/hierarchy1"/>
    <dgm:cxn modelId="{E1C10FF2-F80B-E34F-AF14-2E0CE98F50F8}" type="presOf" srcId="{9B2B1CDB-6638-4B33-A577-9DF4E3C7A7EE}" destId="{B2A371BE-B0FC-ED4C-BDF7-C21515812C8B}" srcOrd="0" destOrd="0" presId="urn:microsoft.com/office/officeart/2005/8/layout/hierarchy1"/>
    <dgm:cxn modelId="{1362F956-EFEC-0C41-BE5D-6D27DD70B1AF}" type="presParOf" srcId="{EA86A4E9-4D61-9F4F-8408-242121FCDB9D}" destId="{B4F0EFA4-0454-B941-8BB0-9100698BBF4B}" srcOrd="0" destOrd="0" presId="urn:microsoft.com/office/officeart/2005/8/layout/hierarchy1"/>
    <dgm:cxn modelId="{D0042FDE-0935-3B4A-AC6C-14B1FCEC9495}" type="presParOf" srcId="{B4F0EFA4-0454-B941-8BB0-9100698BBF4B}" destId="{62387054-FDAC-7E4F-B74D-F271D91A2E3F}" srcOrd="0" destOrd="0" presId="urn:microsoft.com/office/officeart/2005/8/layout/hierarchy1"/>
    <dgm:cxn modelId="{7C473766-F57D-4749-AAA6-CC00306A4AAC}" type="presParOf" srcId="{62387054-FDAC-7E4F-B74D-F271D91A2E3F}" destId="{D817EB4B-4228-3749-922E-96766C27DD8E}" srcOrd="0" destOrd="0" presId="urn:microsoft.com/office/officeart/2005/8/layout/hierarchy1"/>
    <dgm:cxn modelId="{FFE6EB60-558B-CE44-925D-F9F6F2A60F63}" type="presParOf" srcId="{62387054-FDAC-7E4F-B74D-F271D91A2E3F}" destId="{5C74488D-57C5-B44E-8C2A-F9189AD0B947}" srcOrd="1" destOrd="0" presId="urn:microsoft.com/office/officeart/2005/8/layout/hierarchy1"/>
    <dgm:cxn modelId="{0F2DB34A-A37D-844F-9103-614E45F3381B}" type="presParOf" srcId="{B4F0EFA4-0454-B941-8BB0-9100698BBF4B}" destId="{87E66553-7F1E-B549-80FE-B46216A9B795}" srcOrd="1" destOrd="0" presId="urn:microsoft.com/office/officeart/2005/8/layout/hierarchy1"/>
    <dgm:cxn modelId="{122B1878-D00E-5E48-9E0C-854F5C64DB69}" type="presParOf" srcId="{EA86A4E9-4D61-9F4F-8408-242121FCDB9D}" destId="{E254F5F5-994E-9544-9247-0AA5E91F2BAB}" srcOrd="1" destOrd="0" presId="urn:microsoft.com/office/officeart/2005/8/layout/hierarchy1"/>
    <dgm:cxn modelId="{B496D721-86EE-7743-9618-F6154FDA0679}" type="presParOf" srcId="{E254F5F5-994E-9544-9247-0AA5E91F2BAB}" destId="{06B9E654-900F-9F43-B391-2F9FA93A6B3B}" srcOrd="0" destOrd="0" presId="urn:microsoft.com/office/officeart/2005/8/layout/hierarchy1"/>
    <dgm:cxn modelId="{D64D11A1-B466-E242-88B8-5B9C6F77FFAE}" type="presParOf" srcId="{06B9E654-900F-9F43-B391-2F9FA93A6B3B}" destId="{8F6FA778-49A8-9748-B28D-FBA87F2BE60D}" srcOrd="0" destOrd="0" presId="urn:microsoft.com/office/officeart/2005/8/layout/hierarchy1"/>
    <dgm:cxn modelId="{C7E3AAF3-9EE4-D34C-BD14-6A523DD1122F}" type="presParOf" srcId="{06B9E654-900F-9F43-B391-2F9FA93A6B3B}" destId="{9FD741D8-5164-DF4A-ACE5-C5657802C571}" srcOrd="1" destOrd="0" presId="urn:microsoft.com/office/officeart/2005/8/layout/hierarchy1"/>
    <dgm:cxn modelId="{A67BA78F-5D9C-7943-AF83-CCBB8E5FDB9C}" type="presParOf" srcId="{E254F5F5-994E-9544-9247-0AA5E91F2BAB}" destId="{EE08A927-3DCE-CD4E-BF54-3D3E2DE0C924}" srcOrd="1" destOrd="0" presId="urn:microsoft.com/office/officeart/2005/8/layout/hierarchy1"/>
    <dgm:cxn modelId="{5A8044C6-0740-6946-9FA4-B3511DC0048A}" type="presParOf" srcId="{EA86A4E9-4D61-9F4F-8408-242121FCDB9D}" destId="{6F8E0A2F-90BC-3443-88F9-6530794F6DD4}" srcOrd="2" destOrd="0" presId="urn:microsoft.com/office/officeart/2005/8/layout/hierarchy1"/>
    <dgm:cxn modelId="{C0B5E693-C097-B945-A712-70618AF63ADE}" type="presParOf" srcId="{6F8E0A2F-90BC-3443-88F9-6530794F6DD4}" destId="{2A53F9C7-6846-814A-A9F0-7F0B76A6B004}" srcOrd="0" destOrd="0" presId="urn:microsoft.com/office/officeart/2005/8/layout/hierarchy1"/>
    <dgm:cxn modelId="{F37CBEAE-3B56-794D-ABC2-0D1C95BDCCD0}" type="presParOf" srcId="{2A53F9C7-6846-814A-A9F0-7F0B76A6B004}" destId="{ECA4EA4E-6486-0D45-A532-BF1F4621F5A1}" srcOrd="0" destOrd="0" presId="urn:microsoft.com/office/officeart/2005/8/layout/hierarchy1"/>
    <dgm:cxn modelId="{8EB3196A-0B6F-2D4A-8FDC-8436127325AC}" type="presParOf" srcId="{2A53F9C7-6846-814A-A9F0-7F0B76A6B004}" destId="{C788F0DE-96BE-234F-B94A-60C2CF1E47A9}" srcOrd="1" destOrd="0" presId="urn:microsoft.com/office/officeart/2005/8/layout/hierarchy1"/>
    <dgm:cxn modelId="{2C42B4F9-354A-9F43-BB7D-F0AE9CBE3403}" type="presParOf" srcId="{6F8E0A2F-90BC-3443-88F9-6530794F6DD4}" destId="{34B6D67D-94E6-5E41-9D56-97B3F3DE451F}" srcOrd="1" destOrd="0" presId="urn:microsoft.com/office/officeart/2005/8/layout/hierarchy1"/>
    <dgm:cxn modelId="{C46718C9-0DB3-1648-AA4B-8327089F9000}" type="presParOf" srcId="{EA86A4E9-4D61-9F4F-8408-242121FCDB9D}" destId="{D7346476-93F1-E64B-8740-90A881B9FF16}" srcOrd="3" destOrd="0" presId="urn:microsoft.com/office/officeart/2005/8/layout/hierarchy1"/>
    <dgm:cxn modelId="{DD68F7A7-EB9B-8A41-A344-BF6CBB1EAB1E}" type="presParOf" srcId="{D7346476-93F1-E64B-8740-90A881B9FF16}" destId="{4D50DCAA-9704-0245-9D56-1D7CECD6F195}" srcOrd="0" destOrd="0" presId="urn:microsoft.com/office/officeart/2005/8/layout/hierarchy1"/>
    <dgm:cxn modelId="{40D9A9A4-A08F-E741-960E-53718DB27162}" type="presParOf" srcId="{4D50DCAA-9704-0245-9D56-1D7CECD6F195}" destId="{313CF2E2-3BCF-684E-807E-5CB722FAF635}" srcOrd="0" destOrd="0" presId="urn:microsoft.com/office/officeart/2005/8/layout/hierarchy1"/>
    <dgm:cxn modelId="{944DD2B1-ECCA-0642-9BCD-34F42DC01C1D}" type="presParOf" srcId="{4D50DCAA-9704-0245-9D56-1D7CECD6F195}" destId="{6CCBD952-146E-D246-B1D9-B3D046602398}" srcOrd="1" destOrd="0" presId="urn:microsoft.com/office/officeart/2005/8/layout/hierarchy1"/>
    <dgm:cxn modelId="{531AF555-40FD-3047-AEA1-924C4BF9D98E}" type="presParOf" srcId="{D7346476-93F1-E64B-8740-90A881B9FF16}" destId="{7C6574E2-0908-4E47-9633-5C607AE0AE5D}" srcOrd="1" destOrd="0" presId="urn:microsoft.com/office/officeart/2005/8/layout/hierarchy1"/>
    <dgm:cxn modelId="{25F9F081-734D-A74C-826F-344614CB3322}" type="presParOf" srcId="{EA86A4E9-4D61-9F4F-8408-242121FCDB9D}" destId="{505595E6-138D-4E4B-A35D-D00D1AA55078}" srcOrd="4" destOrd="0" presId="urn:microsoft.com/office/officeart/2005/8/layout/hierarchy1"/>
    <dgm:cxn modelId="{9E429F01-A6DE-484F-B590-15AAAFBB502E}" type="presParOf" srcId="{505595E6-138D-4E4B-A35D-D00D1AA55078}" destId="{5EA1A198-E09E-9748-ACD2-9A2FA820E87C}" srcOrd="0" destOrd="0" presId="urn:microsoft.com/office/officeart/2005/8/layout/hierarchy1"/>
    <dgm:cxn modelId="{3F8AB9D0-FACE-7D44-847D-52A43AE4DB9A}" type="presParOf" srcId="{5EA1A198-E09E-9748-ACD2-9A2FA820E87C}" destId="{75F05549-D38D-5149-BC46-3FFB73F77F22}" srcOrd="0" destOrd="0" presId="urn:microsoft.com/office/officeart/2005/8/layout/hierarchy1"/>
    <dgm:cxn modelId="{C6E98EF6-6FC3-D141-8F79-C577B5FD0C13}" type="presParOf" srcId="{5EA1A198-E09E-9748-ACD2-9A2FA820E87C}" destId="{B2A371BE-B0FC-ED4C-BDF7-C21515812C8B}" srcOrd="1" destOrd="0" presId="urn:microsoft.com/office/officeart/2005/8/layout/hierarchy1"/>
    <dgm:cxn modelId="{C54415F5-5291-B64D-A5F2-205DF75A7DE1}" type="presParOf" srcId="{505595E6-138D-4E4B-A35D-D00D1AA55078}" destId="{B3CF21DD-F7EA-0448-9ADE-C4838A3BD986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B1B68-5F15-8A41-98C0-1C5068472866}">
      <dsp:nvSpPr>
        <dsp:cNvPr id="0" name=""/>
        <dsp:cNvSpPr/>
      </dsp:nvSpPr>
      <dsp:spPr>
        <a:xfrm>
          <a:off x="4500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Pérdida de tiempo operativo.</a:t>
          </a:r>
          <a:endParaRPr lang="en-US" sz="1700" kern="1200"/>
        </a:p>
      </dsp:txBody>
      <dsp:txXfrm>
        <a:off x="39080" y="450096"/>
        <a:ext cx="1898585" cy="1111487"/>
      </dsp:txXfrm>
    </dsp:sp>
    <dsp:sp modelId="{3793B6F6-B0D1-D74E-89FA-9D8107B8BBBA}">
      <dsp:nvSpPr>
        <dsp:cNvPr id="0" name=""/>
        <dsp:cNvSpPr/>
      </dsp:nvSpPr>
      <dsp:spPr>
        <a:xfrm>
          <a:off x="2145408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145408" y="859439"/>
        <a:ext cx="292013" cy="292800"/>
      </dsp:txXfrm>
    </dsp:sp>
    <dsp:sp modelId="{0A072DC4-5837-0D4B-B81C-4B00FF8D21FB}">
      <dsp:nvSpPr>
        <dsp:cNvPr id="0" name=""/>
        <dsp:cNvSpPr/>
      </dsp:nvSpPr>
      <dsp:spPr>
        <a:xfrm>
          <a:off x="2759344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dirty="0"/>
            <a:t>• </a:t>
          </a:r>
          <a:r>
            <a:rPr lang="en-US" sz="1700" b="0" i="0" kern="1200" dirty="0" err="1"/>
            <a:t>Dependencia</a:t>
          </a:r>
          <a:r>
            <a:rPr lang="en-US" sz="1700" b="0" i="0" kern="1200" dirty="0"/>
            <a:t> de una sola persona para </a:t>
          </a:r>
          <a:r>
            <a:rPr lang="en-US" sz="1700" b="0" i="0" kern="1200" dirty="0" err="1"/>
            <a:t>coordinar</a:t>
          </a:r>
          <a:r>
            <a:rPr lang="en-US" sz="1700" b="0" i="0" kern="1200" dirty="0"/>
            <a:t> </a:t>
          </a:r>
          <a:r>
            <a:rPr lang="en-US" sz="1700" b="0" i="0" kern="1200" dirty="0" err="1"/>
            <a:t>clientes</a:t>
          </a:r>
          <a:r>
            <a:rPr lang="en-US" sz="1700" b="0" i="0" kern="1200" dirty="0"/>
            <a:t>.</a:t>
          </a:r>
          <a:endParaRPr lang="en-US" sz="1700" kern="1200" dirty="0"/>
        </a:p>
      </dsp:txBody>
      <dsp:txXfrm>
        <a:off x="2793924" y="450096"/>
        <a:ext cx="1898585" cy="1111487"/>
      </dsp:txXfrm>
    </dsp:sp>
    <dsp:sp modelId="{D3B91FD9-CFAC-5C46-AD29-287BCB7F2E6C}">
      <dsp:nvSpPr>
        <dsp:cNvPr id="0" name=""/>
        <dsp:cNvSpPr/>
      </dsp:nvSpPr>
      <dsp:spPr>
        <a:xfrm>
          <a:off x="4900252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4900252" y="859439"/>
        <a:ext cx="292013" cy="292800"/>
      </dsp:txXfrm>
    </dsp:sp>
    <dsp:sp modelId="{5EBE3808-02CD-5349-AA60-92EB7F3E4B66}">
      <dsp:nvSpPr>
        <dsp:cNvPr id="0" name=""/>
        <dsp:cNvSpPr/>
      </dsp:nvSpPr>
      <dsp:spPr>
        <a:xfrm>
          <a:off x="5514189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Falta de trazabilidad y estandarización del servicio.</a:t>
          </a:r>
          <a:endParaRPr lang="en-US" sz="1700" kern="1200"/>
        </a:p>
      </dsp:txBody>
      <dsp:txXfrm>
        <a:off x="5548769" y="450096"/>
        <a:ext cx="1898585" cy="1111487"/>
      </dsp:txXfrm>
    </dsp:sp>
    <dsp:sp modelId="{AC258D29-3F27-3B4C-BC8D-26905562335A}">
      <dsp:nvSpPr>
        <dsp:cNvPr id="0" name=""/>
        <dsp:cNvSpPr/>
      </dsp:nvSpPr>
      <dsp:spPr>
        <a:xfrm>
          <a:off x="7655096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655096" y="859439"/>
        <a:ext cx="292013" cy="292800"/>
      </dsp:txXfrm>
    </dsp:sp>
    <dsp:sp modelId="{A6C7D538-25A0-0A46-BB85-A996B94B75B3}">
      <dsp:nvSpPr>
        <dsp:cNvPr id="0" name=""/>
        <dsp:cNvSpPr/>
      </dsp:nvSpPr>
      <dsp:spPr>
        <a:xfrm>
          <a:off x="8269033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Tiempos de respuesta más lentos para los clientes.</a:t>
          </a:r>
          <a:endParaRPr lang="en-US" sz="1700" kern="1200"/>
        </a:p>
      </dsp:txBody>
      <dsp:txXfrm>
        <a:off x="8303613" y="450096"/>
        <a:ext cx="1898585" cy="11114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17EB4B-4228-3749-922E-96766C27DD8E}">
      <dsp:nvSpPr>
        <dsp:cNvPr id="0" name=""/>
        <dsp:cNvSpPr/>
      </dsp:nvSpPr>
      <dsp:spPr>
        <a:xfrm>
          <a:off x="3594" y="860254"/>
          <a:ext cx="1751401" cy="111214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C74488D-57C5-B44E-8C2A-F9189AD0B947}">
      <dsp:nvSpPr>
        <dsp:cNvPr id="0" name=""/>
        <dsp:cNvSpPr/>
      </dsp:nvSpPr>
      <dsp:spPr>
        <a:xfrm>
          <a:off x="198194" y="1045124"/>
          <a:ext cx="1751401" cy="1112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 dirty="0"/>
            <a:t>• </a:t>
          </a:r>
          <a:r>
            <a:rPr lang="en-US" sz="1400" b="0" i="0" kern="1200" dirty="0" err="1"/>
            <a:t>Diseñar</a:t>
          </a:r>
          <a:r>
            <a:rPr lang="en-US" sz="1400" b="0" i="0" kern="1200" dirty="0"/>
            <a:t> una </a:t>
          </a:r>
          <a:r>
            <a:rPr lang="en-US" sz="1400" b="0" i="0" kern="1200" dirty="0" err="1"/>
            <a:t>arquitectura</a:t>
          </a:r>
          <a:r>
            <a:rPr lang="en-US" sz="1400" b="0" i="0" kern="1200" dirty="0"/>
            <a:t> de datos </a:t>
          </a:r>
          <a:r>
            <a:rPr lang="en-US" sz="1400" b="0" i="0" kern="1200" dirty="0" err="1"/>
            <a:t>relacional</a:t>
          </a:r>
          <a:r>
            <a:rPr lang="en-US" sz="1400" b="0" i="0" kern="1200" dirty="0"/>
            <a:t> y </a:t>
          </a:r>
          <a:r>
            <a:rPr lang="en-US" sz="1400" b="0" i="0" kern="1200" dirty="0" err="1"/>
            <a:t>geoespacial</a:t>
          </a:r>
          <a:r>
            <a:rPr lang="en-US" sz="1400" b="0" i="0" kern="1200" dirty="0"/>
            <a:t>.</a:t>
          </a:r>
          <a:endParaRPr lang="en-US" sz="1400" kern="1200" dirty="0"/>
        </a:p>
      </dsp:txBody>
      <dsp:txXfrm>
        <a:off x="230767" y="1077697"/>
        <a:ext cx="1686255" cy="1046994"/>
      </dsp:txXfrm>
    </dsp:sp>
    <dsp:sp modelId="{8F6FA778-49A8-9748-B28D-FBA87F2BE60D}">
      <dsp:nvSpPr>
        <dsp:cNvPr id="0" name=""/>
        <dsp:cNvSpPr/>
      </dsp:nvSpPr>
      <dsp:spPr>
        <a:xfrm>
          <a:off x="2144196" y="860254"/>
          <a:ext cx="1751401" cy="111214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FD741D8-5164-DF4A-ACE5-C5657802C571}">
      <dsp:nvSpPr>
        <dsp:cNvPr id="0" name=""/>
        <dsp:cNvSpPr/>
      </dsp:nvSpPr>
      <dsp:spPr>
        <a:xfrm>
          <a:off x="2338796" y="1045124"/>
          <a:ext cx="1751401" cy="1112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• Implementar un agente conversacional con IA integrado a WhatsApp.</a:t>
          </a:r>
          <a:endParaRPr lang="en-US" sz="1400" kern="1200"/>
        </a:p>
      </dsp:txBody>
      <dsp:txXfrm>
        <a:off x="2371369" y="1077697"/>
        <a:ext cx="1686255" cy="1046994"/>
      </dsp:txXfrm>
    </dsp:sp>
    <dsp:sp modelId="{ECA4EA4E-6486-0D45-A532-BF1F4621F5A1}">
      <dsp:nvSpPr>
        <dsp:cNvPr id="0" name=""/>
        <dsp:cNvSpPr/>
      </dsp:nvSpPr>
      <dsp:spPr>
        <a:xfrm>
          <a:off x="4284798" y="860254"/>
          <a:ext cx="1751401" cy="111214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788F0DE-96BE-234F-B94A-60C2CF1E47A9}">
      <dsp:nvSpPr>
        <dsp:cNvPr id="0" name=""/>
        <dsp:cNvSpPr/>
      </dsp:nvSpPr>
      <dsp:spPr>
        <a:xfrm>
          <a:off x="4479399" y="1045124"/>
          <a:ext cx="1751401" cy="1112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• Desarrollar la generación asistida de croquis.</a:t>
          </a:r>
          <a:endParaRPr lang="en-US" sz="1400" kern="1200"/>
        </a:p>
      </dsp:txBody>
      <dsp:txXfrm>
        <a:off x="4511972" y="1077697"/>
        <a:ext cx="1686255" cy="1046994"/>
      </dsp:txXfrm>
    </dsp:sp>
    <dsp:sp modelId="{313CF2E2-3BCF-684E-807E-5CB722FAF635}">
      <dsp:nvSpPr>
        <dsp:cNvPr id="0" name=""/>
        <dsp:cNvSpPr/>
      </dsp:nvSpPr>
      <dsp:spPr>
        <a:xfrm>
          <a:off x="6425401" y="860254"/>
          <a:ext cx="1751401" cy="111214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CCBD952-146E-D246-B1D9-B3D046602398}">
      <dsp:nvSpPr>
        <dsp:cNvPr id="0" name=""/>
        <dsp:cNvSpPr/>
      </dsp:nvSpPr>
      <dsp:spPr>
        <a:xfrm>
          <a:off x="6620001" y="1045124"/>
          <a:ext cx="1751401" cy="1112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• Construir panel web y aplicación móvil para los operadores.</a:t>
          </a:r>
          <a:endParaRPr lang="en-US" sz="1400" kern="1200"/>
        </a:p>
      </dsp:txBody>
      <dsp:txXfrm>
        <a:off x="6652574" y="1077697"/>
        <a:ext cx="1686255" cy="1046994"/>
      </dsp:txXfrm>
    </dsp:sp>
    <dsp:sp modelId="{75F05549-D38D-5149-BC46-3FFB73F77F22}">
      <dsp:nvSpPr>
        <dsp:cNvPr id="0" name=""/>
        <dsp:cNvSpPr/>
      </dsp:nvSpPr>
      <dsp:spPr>
        <a:xfrm>
          <a:off x="8566003" y="860254"/>
          <a:ext cx="1751401" cy="111214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2A371BE-B0FC-ED4C-BDF7-C21515812C8B}">
      <dsp:nvSpPr>
        <dsp:cNvPr id="0" name=""/>
        <dsp:cNvSpPr/>
      </dsp:nvSpPr>
      <dsp:spPr>
        <a:xfrm>
          <a:off x="8760603" y="1045124"/>
          <a:ext cx="1751401" cy="111214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b="0" i="0" kern="1200"/>
            <a:t>• Levantar requisitos y documentar el proceso AS-IS.</a:t>
          </a:r>
          <a:endParaRPr lang="en-US" sz="1400" kern="1200"/>
        </a:p>
      </dsp:txBody>
      <dsp:txXfrm>
        <a:off x="8793176" y="1077697"/>
        <a:ext cx="1686255" cy="104699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5" name="Google Shape;30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8b47fad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  <p:sp>
        <p:nvSpPr>
          <p:cNvPr id="450" name="Google Shape;450;g3f8b47fad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4" name="Google Shape;64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9784080" y="640080"/>
            <a:ext cx="1554480" cy="1554480"/>
          </a:xfrm>
          <a:prstGeom prst="roundRect">
            <a:avLst>
              <a:gd name="adj" fmla="val 16667"/>
            </a:avLst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10652760" y="1417320"/>
            <a:ext cx="822960" cy="822960"/>
          </a:xfrm>
          <a:prstGeom prst="roundRect">
            <a:avLst>
              <a:gd name="adj" fmla="val 16667"/>
            </a:avLst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"/>
          <p:cNvSpPr/>
          <p:nvPr/>
        </p:nvSpPr>
        <p:spPr>
          <a:xfrm>
            <a:off x="9326880" y="2286000"/>
            <a:ext cx="2194560" cy="2194560"/>
          </a:xfrm>
          <a:prstGeom prst="roundRect">
            <a:avLst>
              <a:gd name="adj" fmla="val 16667"/>
            </a:avLst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731520" y="1051560"/>
            <a:ext cx="8503920" cy="13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 dirty="0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KILL BICHOS IA</a:t>
            </a:r>
            <a:endParaRPr dirty="0"/>
          </a:p>
          <a:p>
            <a:pPr marL="0" marR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300" b="0" i="0" u="none" strike="noStrike" cap="none" dirty="0" err="1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Automatización</a:t>
            </a:r>
            <a:r>
              <a:rPr lang="en-US" sz="2300" b="0" i="0" u="none" strike="noStrike" cap="none" dirty="0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2300" b="0" i="0" u="none" strike="noStrike" cap="none" dirty="0" err="1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r>
              <a:rPr lang="en-US" sz="2300" b="0" i="0" u="none" strike="noStrike" cap="none" dirty="0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 y croquis </a:t>
            </a:r>
            <a:r>
              <a:rPr lang="en-US" sz="2300" b="0" i="0" u="none" strike="noStrike" cap="none" dirty="0" err="1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geoespacial</a:t>
            </a:r>
            <a:r>
              <a:rPr lang="en-US" sz="2300" b="0" i="0" u="none" strike="noStrike" cap="none" dirty="0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2300" b="0" i="0" u="none" strike="noStrike" cap="none" dirty="0" err="1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asistido</a:t>
            </a:r>
            <a:r>
              <a:rPr lang="en-US" sz="2300" b="0" i="0" u="none" strike="noStrike" cap="none" dirty="0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 por IA</a:t>
            </a:r>
            <a:endParaRPr dirty="0"/>
          </a:p>
        </p:txBody>
      </p:sp>
      <p:sp>
        <p:nvSpPr>
          <p:cNvPr id="89" name="Google Shape;89;p1"/>
          <p:cNvSpPr txBox="1"/>
          <p:nvPr/>
        </p:nvSpPr>
        <p:spPr>
          <a:xfrm>
            <a:off x="749808" y="3749039"/>
            <a:ext cx="77724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0EA5E9"/>
                </a:solidFill>
                <a:latin typeface="Calibri"/>
                <a:ea typeface="Calibri"/>
                <a:cs typeface="Calibri"/>
                <a:sym typeface="Calibri"/>
              </a:rPr>
              <a:t>Proyecto APT — Fase 1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Javier Lara Bustos • Pedro Vergiu • Juan Bórquez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Calibri"/>
                <a:ea typeface="Calibri"/>
                <a:cs typeface="Calibri"/>
                <a:sym typeface="Calibri"/>
              </a:rPr>
              <a:t>Ingeniería Informática y Telecomunicaciones • DUOC UC — Viña del Mar</a:t>
            </a:r>
            <a:endParaRPr/>
          </a:p>
        </p:txBody>
      </p:sp>
      <p:sp>
        <p:nvSpPr>
          <p:cNvPr id="90" name="Google Shape;90;p1"/>
          <p:cNvSpPr txBox="1"/>
          <p:nvPr/>
        </p:nvSpPr>
        <p:spPr>
          <a:xfrm>
            <a:off x="749808" y="5989320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0" i="0" u="none" strike="noStrike" cap="non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23 de agosto de 2026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1. Problema y contexto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Situación actual de Kill Bichos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68580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85800" y="150876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Contacto manual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91440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Una persona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gestiona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responde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manualmente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mensajes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recibidos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WhatsApp.</a:t>
            </a:r>
            <a:endParaRPr dirty="0"/>
          </a:p>
        </p:txBody>
      </p:sp>
      <p:sp>
        <p:nvSpPr>
          <p:cNvPr id="103" name="Google Shape;103;p2"/>
          <p:cNvSpPr/>
          <p:nvPr/>
        </p:nvSpPr>
        <p:spPr>
          <a:xfrm>
            <a:off x="438912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4389120" y="1508760"/>
            <a:ext cx="73152" cy="1874519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Agendamiento fragmentado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461772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Las visitas se coordinan en Google Calendar sin integración con el resto del proceso.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09244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8092440" y="1508760"/>
            <a:ext cx="73152" cy="1874519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manual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832104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operador construye a mano la ubicación de trampas apoyándose en imágenes satelitales.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graphicFrame>
        <p:nvGraphicFramePr>
          <p:cNvPr id="116" name="Google Shape;111;p2">
            <a:extLst>
              <a:ext uri="{FF2B5EF4-FFF2-40B4-BE49-F238E27FC236}">
                <a16:creationId xmlns:a16="http://schemas.microsoft.com/office/drawing/2014/main" id="{DFF077B3-6300-1C03-E33E-9E01ACEB41CD}"/>
              </a:ext>
            </a:extLst>
          </p:cNvPr>
          <p:cNvGraphicFramePr/>
          <p:nvPr/>
        </p:nvGraphicFramePr>
        <p:xfrm>
          <a:off x="868680" y="3886200"/>
          <a:ext cx="10241280" cy="2011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2. Propuesta de solución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Plataforma web + aplicación móvil</a:t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68580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91440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Agente conversacional con IA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91440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Integración con WhatsApp Business API para interpretar la intención del cliente y gestionar el agendamiento según disponibilidad real.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621792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2179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644652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</a:t>
            </a:r>
            <a:r>
              <a:rPr lang="en-US" sz="1600" b="1" i="0" u="none" strike="noStrike" cap="none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asistido</a:t>
            </a: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por IA</a:t>
            </a:r>
            <a:endParaRPr dirty="0"/>
          </a:p>
        </p:txBody>
      </p:sp>
      <p:sp>
        <p:nvSpPr>
          <p:cNvPr id="130" name="Google Shape;130;p3"/>
          <p:cNvSpPr txBox="1"/>
          <p:nvPr/>
        </p:nvSpPr>
        <p:spPr>
          <a:xfrm>
            <a:off x="644652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Combina geolocalización, imagen satelital y un modelo de IA para sugerir la distribución de trampas.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68580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85800" y="365760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91440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91440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 operativa de clientes, visitas y agenda.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621792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6217920" y="365760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644652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644652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 del operador, visualización del croquis y registro de visitas en terreno.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Principio clave: la IA asiste la decisión; la validación final del croquis permanece en manos del operador.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3. Arquitectura conceptual</a:t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Flujo de información de la solución</a:t>
            </a:r>
            <a:endParaRPr/>
          </a:p>
        </p:txBody>
      </p:sp>
      <p:sp>
        <p:nvSpPr>
          <p:cNvPr id="151" name="Google Shape;151;p4"/>
          <p:cNvSpPr/>
          <p:nvPr/>
        </p:nvSpPr>
        <p:spPr>
          <a:xfrm>
            <a:off x="548640" y="1920240"/>
            <a:ext cx="210312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5486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777240" y="2103120"/>
            <a:ext cx="16916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</a:t>
            </a:r>
            <a:endParaRPr/>
          </a:p>
        </p:txBody>
      </p:sp>
      <p:sp>
        <p:nvSpPr>
          <p:cNvPr id="154" name="Google Shape;154;p4"/>
          <p:cNvSpPr txBox="1"/>
          <p:nvPr/>
        </p:nvSpPr>
        <p:spPr>
          <a:xfrm>
            <a:off x="777240" y="2606040"/>
            <a:ext cx="169163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</a:t>
            </a:r>
            <a:endParaRPr/>
          </a:p>
        </p:txBody>
      </p:sp>
      <p:sp>
        <p:nvSpPr>
          <p:cNvPr id="155" name="Google Shape;155;p4"/>
          <p:cNvSpPr/>
          <p:nvPr/>
        </p:nvSpPr>
        <p:spPr>
          <a:xfrm>
            <a:off x="297180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2971800" y="1920240"/>
            <a:ext cx="73152" cy="13258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320040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Capa IA</a:t>
            </a:r>
            <a:endParaRPr/>
          </a:p>
        </p:txBody>
      </p:sp>
      <p:sp>
        <p:nvSpPr>
          <p:cNvPr id="158" name="Google Shape;158;p4"/>
          <p:cNvSpPr txBox="1"/>
          <p:nvPr/>
        </p:nvSpPr>
        <p:spPr>
          <a:xfrm>
            <a:off x="3200400" y="260604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Intención + agendamiento</a:t>
            </a:r>
            <a:endParaRPr/>
          </a:p>
        </p:txBody>
      </p:sp>
      <p:sp>
        <p:nvSpPr>
          <p:cNvPr id="159" name="Google Shape;159;p4"/>
          <p:cNvSpPr/>
          <p:nvPr/>
        </p:nvSpPr>
        <p:spPr>
          <a:xfrm>
            <a:off x="580644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58064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 txBox="1"/>
          <p:nvPr/>
        </p:nvSpPr>
        <p:spPr>
          <a:xfrm>
            <a:off x="603504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6035040" y="2606040"/>
            <a:ext cx="20574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Lógica + APIs</a:t>
            </a:r>
            <a:endParaRPr/>
          </a:p>
        </p:txBody>
      </p:sp>
      <p:sp>
        <p:nvSpPr>
          <p:cNvPr id="163" name="Google Shape;163;p4"/>
          <p:cNvSpPr/>
          <p:nvPr/>
        </p:nvSpPr>
        <p:spPr>
          <a:xfrm>
            <a:off x="8641080" y="1920240"/>
            <a:ext cx="265176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8641080" y="1920240"/>
            <a:ext cx="73152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8869680" y="210312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Base de datos</a:t>
            </a:r>
            <a:endParaRPr dirty="0"/>
          </a:p>
        </p:txBody>
      </p:sp>
      <p:sp>
        <p:nvSpPr>
          <p:cNvPr id="166" name="Google Shape;166;p4"/>
          <p:cNvSpPr txBox="1"/>
          <p:nvPr/>
        </p:nvSpPr>
        <p:spPr>
          <a:xfrm>
            <a:off x="8869680" y="2606040"/>
            <a:ext cx="2240279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+ PostGIS</a:t>
            </a:r>
            <a:endParaRPr dirty="0"/>
          </a:p>
        </p:txBody>
      </p:sp>
      <p:sp>
        <p:nvSpPr>
          <p:cNvPr id="167" name="Google Shape;167;p4"/>
          <p:cNvSpPr/>
          <p:nvPr/>
        </p:nvSpPr>
        <p:spPr>
          <a:xfrm>
            <a:off x="265176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544068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827532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18288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1828800" y="3886200"/>
            <a:ext cx="73152" cy="14173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20574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2057400" y="4572000"/>
            <a:ext cx="2880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Clientes • visitas • agenda</a:t>
            </a:r>
            <a:endParaRPr/>
          </a:p>
        </p:txBody>
      </p:sp>
      <p:sp>
        <p:nvSpPr>
          <p:cNvPr id="174" name="Google Shape;174;p4"/>
          <p:cNvSpPr/>
          <p:nvPr/>
        </p:nvSpPr>
        <p:spPr>
          <a:xfrm>
            <a:off x="54864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5486400" y="3886200"/>
            <a:ext cx="7315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57150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5715000" y="4572000"/>
            <a:ext cx="288036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Operador • croquis • visita</a:t>
            </a:r>
            <a:endParaRPr/>
          </a:p>
        </p:txBody>
      </p:sp>
      <p:sp>
        <p:nvSpPr>
          <p:cNvPr id="178" name="Google Shape;178;p4"/>
          <p:cNvSpPr/>
          <p:nvPr/>
        </p:nvSpPr>
        <p:spPr>
          <a:xfrm>
            <a:off x="9144000" y="3886200"/>
            <a:ext cx="182880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9144000" y="388620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9372600" y="406908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</a:t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9372600" y="4572000"/>
            <a:ext cx="141732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endParaRPr/>
          </a:p>
        </p:txBody>
      </p:sp>
      <p:sp>
        <p:nvSpPr>
          <p:cNvPr id="182" name="Google Shape;182;p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4. Componentes tecnológicos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Tecnologías definidas para el proyecto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6400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64008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8686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Frontend web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868680" y="2101800"/>
            <a:ext cx="233172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React por su interface dinamica </a:t>
            </a:r>
            <a:endParaRPr dirty="0"/>
          </a:p>
        </p:txBody>
      </p:sp>
      <p:sp>
        <p:nvSpPr>
          <p:cNvPr id="197" name="Google Shape;197;p5"/>
          <p:cNvSpPr/>
          <p:nvPr/>
        </p:nvSpPr>
        <p:spPr>
          <a:xfrm>
            <a:off x="36118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611880" y="141732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38404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200" name="Google Shape;200;p5"/>
          <p:cNvSpPr txBox="1"/>
          <p:nvPr/>
        </p:nvSpPr>
        <p:spPr>
          <a:xfrm>
            <a:off x="3840480" y="2103120"/>
            <a:ext cx="233172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FastAPI por su rapidez e integracion con. Python </a:t>
            </a:r>
            <a:endParaRPr dirty="0"/>
          </a:p>
        </p:txBody>
      </p:sp>
      <p:sp>
        <p:nvSpPr>
          <p:cNvPr id="201" name="Google Shape;201;p5"/>
          <p:cNvSpPr/>
          <p:nvPr/>
        </p:nvSpPr>
        <p:spPr>
          <a:xfrm>
            <a:off x="658368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83680" y="141732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81228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Móvil</a:t>
            </a:r>
            <a:endParaRPr/>
          </a:p>
        </p:txBody>
      </p:sp>
      <p:sp>
        <p:nvSpPr>
          <p:cNvPr id="204" name="Google Shape;204;p5"/>
          <p:cNvSpPr txBox="1"/>
          <p:nvPr/>
        </p:nvSpPr>
        <p:spPr>
          <a:xfrm>
            <a:off x="6812280" y="2103120"/>
            <a:ext cx="192023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Flutter por que permite una base de codigo </a:t>
            </a:r>
            <a:endParaRPr dirty="0"/>
          </a:p>
        </p:txBody>
      </p:sp>
      <p:sp>
        <p:nvSpPr>
          <p:cNvPr id="205" name="Google Shape;205;p5"/>
          <p:cNvSpPr/>
          <p:nvPr/>
        </p:nvSpPr>
        <p:spPr>
          <a:xfrm>
            <a:off x="914400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914400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937260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</a:t>
            </a:r>
            <a:endParaRPr dirty="0"/>
          </a:p>
        </p:txBody>
      </p:sp>
      <p:sp>
        <p:nvSpPr>
          <p:cNvPr id="208" name="Google Shape;208;p5"/>
          <p:cNvSpPr txBox="1"/>
          <p:nvPr/>
        </p:nvSpPr>
        <p:spPr>
          <a:xfrm>
            <a:off x="9372600" y="2103120"/>
            <a:ext cx="192023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</a:t>
            </a:r>
            <a:r>
              <a:rPr lang="en-US" sz="1200" dirty="0">
                <a:solidFill>
                  <a:srgbClr val="1E293B"/>
                </a:solidFill>
              </a:rPr>
              <a:t>Gestion de datos </a:t>
            </a: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/ PostGIS para la informacion geografica </a:t>
            </a:r>
            <a:endParaRPr dirty="0"/>
          </a:p>
        </p:txBody>
      </p:sp>
      <p:sp>
        <p:nvSpPr>
          <p:cNvPr id="209" name="Google Shape;209;p5"/>
          <p:cNvSpPr/>
          <p:nvPr/>
        </p:nvSpPr>
        <p:spPr>
          <a:xfrm>
            <a:off x="64008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640080" y="333756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86868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Mensajería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868680" y="4023360"/>
            <a:ext cx="3063239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 Business API / Twilio </a:t>
            </a:r>
            <a:r>
              <a:rPr lang="en-US" sz="1200" dirty="0">
                <a:solidFill>
                  <a:srgbClr val="1E293B"/>
                </a:solidFill>
              </a:rPr>
              <a:t>para integrar mensajeria + IA</a:t>
            </a:r>
            <a:endParaRPr dirty="0"/>
          </a:p>
        </p:txBody>
      </p:sp>
      <p:sp>
        <p:nvSpPr>
          <p:cNvPr id="213" name="Google Shape;213;p5"/>
          <p:cNvSpPr/>
          <p:nvPr/>
        </p:nvSpPr>
        <p:spPr>
          <a:xfrm>
            <a:off x="438912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4389120" y="333756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461772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Inteligencia artificial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4617720" y="4023360"/>
            <a:ext cx="3063239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API de LLM para clasificación y asistencia</a:t>
            </a:r>
            <a:endParaRPr/>
          </a:p>
        </p:txBody>
      </p:sp>
      <p:sp>
        <p:nvSpPr>
          <p:cNvPr id="217" name="Google Shape;217;p5"/>
          <p:cNvSpPr/>
          <p:nvPr/>
        </p:nvSpPr>
        <p:spPr>
          <a:xfrm>
            <a:off x="8138160" y="3337560"/>
            <a:ext cx="333756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 txBox="1"/>
          <p:nvPr/>
        </p:nvSpPr>
        <p:spPr>
          <a:xfrm>
            <a:off x="8366760" y="352044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 y geolocalización</a:t>
            </a:r>
            <a:endParaRPr/>
          </a:p>
        </p:txBody>
      </p:sp>
      <p:sp>
        <p:nvSpPr>
          <p:cNvPr id="220" name="Google Shape;220;p5"/>
          <p:cNvSpPr txBox="1"/>
          <p:nvPr/>
        </p:nvSpPr>
        <p:spPr>
          <a:xfrm>
            <a:off x="8366760" y="4023360"/>
            <a:ext cx="2926079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Google Maps Platform o Mapbox</a:t>
            </a:r>
            <a:endParaRPr/>
          </a:p>
        </p:txBody>
      </p:sp>
      <p:sp>
        <p:nvSpPr>
          <p:cNvPr id="221" name="Google Shape;221;p5"/>
          <p:cNvSpPr txBox="1"/>
          <p:nvPr/>
        </p:nvSpPr>
        <p:spPr>
          <a:xfrm>
            <a:off x="914400" y="53035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GitHub + Pull Requests para trazabilidad del código.</a:t>
            </a:r>
            <a:endParaRPr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CI/CD y pruebas automatizadas durante el ciclo de vida.</a:t>
            </a:r>
            <a:endParaRPr/>
          </a:p>
        </p:txBody>
      </p:sp>
      <p:sp>
        <p:nvSpPr>
          <p:cNvPr id="222" name="Google Shape;222;p5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"/>
          <p:cNvSpPr/>
          <p:nvPr/>
        </p:nvSpPr>
        <p:spPr>
          <a:xfrm>
            <a:off x="7772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5. Objetivos del proyecto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685800" y="1417320"/>
            <a:ext cx="10789920" cy="11430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685800" y="141732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914400" y="1600200"/>
            <a:ext cx="10378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Objetivo general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928116" y="2020824"/>
            <a:ext cx="10378440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Automatizar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el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visitas y la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generación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croquis de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trampas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mediante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una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plataforma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 y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IA y </a:t>
            </a:r>
            <a:r>
              <a:rPr lang="en-US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/>
          </a:p>
        </p:txBody>
      </p:sp>
      <p:sp>
        <p:nvSpPr>
          <p:cNvPr id="237" name="Google Shape;237;p6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41" name="Google Shape;236;p6">
            <a:extLst>
              <a:ext uri="{FF2B5EF4-FFF2-40B4-BE49-F238E27FC236}">
                <a16:creationId xmlns:a16="http://schemas.microsoft.com/office/drawing/2014/main" id="{6265E4E3-4D52-2E34-37CD-9DFAB239A1D5}"/>
              </a:ext>
            </a:extLst>
          </p:cNvPr>
          <p:cNvGraphicFramePr/>
          <p:nvPr/>
        </p:nvGraphicFramePr>
        <p:xfrm>
          <a:off x="822960" y="2880360"/>
          <a:ext cx="10515600" cy="301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7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7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7"/>
          <p:cNvSpPr txBox="1"/>
          <p:nvPr/>
        </p:nvSpPr>
        <p:spPr>
          <a:xfrm>
            <a:off x="621792" y="342262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6. Indicadores de éxito</a:t>
            </a:r>
            <a:endParaRPr/>
          </a:p>
        </p:txBody>
      </p:sp>
      <p:sp>
        <p:nvSpPr>
          <p:cNvPr id="247" name="Google Shape;247;p7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KPIs definidos para validar la solución</a:t>
            </a:r>
            <a:endParaRPr/>
          </a:p>
        </p:txBody>
      </p:sp>
      <p:sp>
        <p:nvSpPr>
          <p:cNvPr id="248" name="Google Shape;248;p7"/>
          <p:cNvSpPr/>
          <p:nvPr/>
        </p:nvSpPr>
        <p:spPr>
          <a:xfrm>
            <a:off x="502920" y="1828800"/>
            <a:ext cx="2057400" cy="237744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7"/>
          <p:cNvSpPr/>
          <p:nvPr/>
        </p:nvSpPr>
        <p:spPr>
          <a:xfrm>
            <a:off x="502920" y="182880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7"/>
          <p:cNvSpPr txBox="1"/>
          <p:nvPr/>
        </p:nvSpPr>
        <p:spPr>
          <a:xfrm>
            <a:off x="731520" y="20116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</a:t>
            </a:r>
            <a:endParaRPr dirty="0"/>
          </a:p>
        </p:txBody>
      </p:sp>
      <p:sp>
        <p:nvSpPr>
          <p:cNvPr id="251" name="Google Shape;251;p7"/>
          <p:cNvSpPr txBox="1"/>
          <p:nvPr/>
        </p:nvSpPr>
        <p:spPr>
          <a:xfrm>
            <a:off x="731520" y="2514600"/>
            <a:ext cx="16459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100%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entidades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principales</a:t>
            </a:r>
            <a:b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dirty="0">
                <a:solidFill>
                  <a:srgbClr val="1E293B"/>
                </a:solidFill>
              </a:rPr>
              <a:t>y </a:t>
            </a:r>
            <a:r>
              <a:rPr lang="en-US" sz="1200" dirty="0" err="1">
                <a:solidFill>
                  <a:srgbClr val="1E293B"/>
                </a:solidFill>
              </a:rPr>
              <a:t>consultas</a:t>
            </a:r>
            <a:r>
              <a:rPr lang="en-US" sz="1200" dirty="0">
                <a:solidFill>
                  <a:srgbClr val="1E293B"/>
                </a:solidFill>
              </a:rPr>
              <a:t> </a:t>
            </a:r>
            <a:r>
              <a:rPr lang="en-US" sz="1200" dirty="0" err="1">
                <a:solidFill>
                  <a:srgbClr val="1E293B"/>
                </a:solidFill>
              </a:rPr>
              <a:t>menores</a:t>
            </a:r>
            <a:r>
              <a:rPr lang="en-US" sz="1200" dirty="0">
                <a:solidFill>
                  <a:srgbClr val="1E293B"/>
                </a:solidFill>
              </a:rPr>
              <a:t> a 3s</a:t>
            </a:r>
            <a:endParaRPr dirty="0"/>
          </a:p>
        </p:txBody>
      </p:sp>
      <p:sp>
        <p:nvSpPr>
          <p:cNvPr id="252" name="Google Shape;252;p7"/>
          <p:cNvSpPr/>
          <p:nvPr/>
        </p:nvSpPr>
        <p:spPr>
          <a:xfrm>
            <a:off x="2834639" y="1828800"/>
            <a:ext cx="2057400" cy="237744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7"/>
          <p:cNvSpPr/>
          <p:nvPr/>
        </p:nvSpPr>
        <p:spPr>
          <a:xfrm>
            <a:off x="2834639" y="1828800"/>
            <a:ext cx="73152" cy="23774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 txBox="1"/>
          <p:nvPr/>
        </p:nvSpPr>
        <p:spPr>
          <a:xfrm>
            <a:off x="3063239" y="20116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WhatsApp + IA</a:t>
            </a:r>
            <a:endParaRPr/>
          </a:p>
        </p:txBody>
      </p:sp>
      <p:sp>
        <p:nvSpPr>
          <p:cNvPr id="255" name="Google Shape;255;p7"/>
          <p:cNvSpPr txBox="1"/>
          <p:nvPr/>
        </p:nvSpPr>
        <p:spPr>
          <a:xfrm>
            <a:off x="3063239" y="2514600"/>
            <a:ext cx="164592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8/10 solicitudes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correctas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al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menos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80%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intención</a:t>
            </a:r>
            <a:endParaRPr dirty="0"/>
          </a:p>
        </p:txBody>
      </p:sp>
      <p:sp>
        <p:nvSpPr>
          <p:cNvPr id="256" name="Google Shape;256;p7"/>
          <p:cNvSpPr/>
          <p:nvPr/>
        </p:nvSpPr>
        <p:spPr>
          <a:xfrm>
            <a:off x="5166359" y="1828800"/>
            <a:ext cx="2057400" cy="237744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5166359" y="1828800"/>
            <a:ext cx="73152" cy="237744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7"/>
          <p:cNvSpPr txBox="1"/>
          <p:nvPr/>
        </p:nvSpPr>
        <p:spPr>
          <a:xfrm>
            <a:off x="5394959" y="20116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</a:t>
            </a:r>
            <a:endParaRPr/>
          </a:p>
        </p:txBody>
      </p:sp>
      <p:sp>
        <p:nvSpPr>
          <p:cNvPr id="259" name="Google Shape;259;p7"/>
          <p:cNvSpPr txBox="1"/>
          <p:nvPr/>
        </p:nvSpPr>
        <p:spPr>
          <a:xfrm>
            <a:off x="5394959" y="2514600"/>
            <a:ext cx="16459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8/10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sugerencias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correctas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b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100%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cambios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registrados</a:t>
            </a:r>
            <a:endParaRPr dirty="0"/>
          </a:p>
        </p:txBody>
      </p:sp>
      <p:sp>
        <p:nvSpPr>
          <p:cNvPr id="260" name="Google Shape;260;p7"/>
          <p:cNvSpPr/>
          <p:nvPr/>
        </p:nvSpPr>
        <p:spPr>
          <a:xfrm>
            <a:off x="7498079" y="1828800"/>
            <a:ext cx="2057400" cy="237744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7498079" y="1828800"/>
            <a:ext cx="73152" cy="237744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 txBox="1"/>
          <p:nvPr/>
        </p:nvSpPr>
        <p:spPr>
          <a:xfrm>
            <a:off x="7726679" y="20116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Web + móvil</a:t>
            </a:r>
            <a:endParaRPr/>
          </a:p>
        </p:txBody>
      </p:sp>
      <p:sp>
        <p:nvSpPr>
          <p:cNvPr id="263" name="Google Shape;263;p7"/>
          <p:cNvSpPr txBox="1"/>
          <p:nvPr/>
        </p:nvSpPr>
        <p:spPr>
          <a:xfrm>
            <a:off x="7726679" y="2514600"/>
            <a:ext cx="1645920" cy="738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419" dirty="0"/>
              <a:t>4 de 5 escenarios funcionando correctamente</a:t>
            </a:r>
            <a:endParaRPr dirty="0"/>
          </a:p>
        </p:txBody>
      </p:sp>
      <p:sp>
        <p:nvSpPr>
          <p:cNvPr id="264" name="Google Shape;264;p7"/>
          <p:cNvSpPr/>
          <p:nvPr/>
        </p:nvSpPr>
        <p:spPr>
          <a:xfrm>
            <a:off x="9829800" y="1828800"/>
            <a:ext cx="2057400" cy="237744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9829800" y="1828800"/>
            <a:ext cx="73152" cy="237744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 txBox="1"/>
          <p:nvPr/>
        </p:nvSpPr>
        <p:spPr>
          <a:xfrm>
            <a:off x="10058400" y="20116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>
                <a:solidFill>
                  <a:srgbClr val="162B43"/>
                </a:solidFill>
                <a:latin typeface="Calibri"/>
                <a:ea typeface="Calibri"/>
                <a:cs typeface="Calibri"/>
                <a:sym typeface="Calibri"/>
              </a:rPr>
              <a:t>Requisitos + AS-IS</a:t>
            </a:r>
            <a:endParaRPr/>
          </a:p>
        </p:txBody>
      </p:sp>
      <p:sp>
        <p:nvSpPr>
          <p:cNvPr id="267" name="Google Shape;267;p7"/>
          <p:cNvSpPr txBox="1"/>
          <p:nvPr/>
        </p:nvSpPr>
        <p:spPr>
          <a:xfrm>
            <a:off x="10058400" y="2514600"/>
            <a:ext cx="1645920" cy="1508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62B43"/>
                </a:solidFill>
                <a:latin typeface="Calibri"/>
                <a:ea typeface="Calibri"/>
                <a:cs typeface="Calibri"/>
                <a:sym typeface="Calibri"/>
              </a:rPr>
              <a:t>100% requisitos priorizados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>
                <a:solidFill>
                  <a:srgbClr val="162B43"/>
                </a:solidFill>
                <a:latin typeface="Calibri"/>
                <a:ea typeface="Calibri"/>
                <a:cs typeface="Calibri"/>
                <a:sym typeface="Calibri"/>
              </a:rPr>
              <a:t>AS-IS validado</a:t>
            </a:r>
            <a:endParaRPr/>
          </a:p>
        </p:txBody>
      </p:sp>
      <p:sp>
        <p:nvSpPr>
          <p:cNvPr id="268" name="Google Shape;268;p7"/>
          <p:cNvSpPr txBox="1"/>
          <p:nvPr/>
        </p:nvSpPr>
        <p:spPr>
          <a:xfrm>
            <a:off x="914400" y="4754880"/>
            <a:ext cx="1033272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Los KPI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convierten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la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propuesta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en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una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solución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medible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defendible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desde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una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perspectiva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700" b="1" dirty="0" err="1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ingeniería</a:t>
            </a:r>
            <a:r>
              <a:rPr lang="en-US" sz="1700" b="1" dirty="0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 de software.</a:t>
            </a:r>
            <a:endParaRPr dirty="0"/>
          </a:p>
        </p:txBody>
      </p:sp>
      <p:sp>
        <p:nvSpPr>
          <p:cNvPr id="269" name="Google Shape;269;p7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7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71" name="Google Shape;271;p7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7. Metodología de desarrollo</a:t>
            </a:r>
            <a:endParaRPr/>
          </a:p>
        </p:txBody>
      </p:sp>
      <p:sp>
        <p:nvSpPr>
          <p:cNvPr id="279" name="Google Shape;279;p8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Scrum adaptado a 11 semanas</a:t>
            </a:r>
            <a:endParaRPr/>
          </a:p>
        </p:txBody>
      </p:sp>
      <p:sp>
        <p:nvSpPr>
          <p:cNvPr id="280" name="Google Shape;280;p8"/>
          <p:cNvSpPr/>
          <p:nvPr/>
        </p:nvSpPr>
        <p:spPr>
          <a:xfrm>
            <a:off x="73152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73152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 txBox="1"/>
          <p:nvPr/>
        </p:nvSpPr>
        <p:spPr>
          <a:xfrm>
            <a:off x="96012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Planificar</a:t>
            </a:r>
            <a:endParaRPr/>
          </a:p>
        </p:txBody>
      </p:sp>
      <p:sp>
        <p:nvSpPr>
          <p:cNvPr id="283" name="Google Shape;283;p8"/>
          <p:cNvSpPr txBox="1"/>
          <p:nvPr/>
        </p:nvSpPr>
        <p:spPr>
          <a:xfrm>
            <a:off x="960120" y="2331720"/>
            <a:ext cx="1920239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/>
          </a:p>
        </p:txBody>
      </p:sp>
      <p:sp>
        <p:nvSpPr>
          <p:cNvPr id="284" name="Google Shape;284;p8"/>
          <p:cNvSpPr/>
          <p:nvPr/>
        </p:nvSpPr>
        <p:spPr>
          <a:xfrm>
            <a:off x="309067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352043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3520439" y="1645920"/>
            <a:ext cx="73152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 txBox="1"/>
          <p:nvPr/>
        </p:nvSpPr>
        <p:spPr>
          <a:xfrm>
            <a:off x="374903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Desarrollar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3749039" y="2331720"/>
            <a:ext cx="1920239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Trabajo del sprint</a:t>
            </a:r>
            <a:endParaRPr/>
          </a:p>
        </p:txBody>
      </p:sp>
      <p:sp>
        <p:nvSpPr>
          <p:cNvPr id="289" name="Google Shape;289;p8"/>
          <p:cNvSpPr/>
          <p:nvPr/>
        </p:nvSpPr>
        <p:spPr>
          <a:xfrm>
            <a:off x="587959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30935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309359" y="1645920"/>
            <a:ext cx="73152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653795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Validar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6537959" y="2331720"/>
            <a:ext cx="1920239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/>
          </a:p>
        </p:txBody>
      </p:sp>
      <p:sp>
        <p:nvSpPr>
          <p:cNvPr id="294" name="Google Shape;294;p8"/>
          <p:cNvSpPr/>
          <p:nvPr/>
        </p:nvSpPr>
        <p:spPr>
          <a:xfrm>
            <a:off x="866851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909828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909828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932688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Mejorar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9326880" y="2331720"/>
            <a:ext cx="1920239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Retrospectiva</a:t>
            </a:r>
            <a:endParaRPr/>
          </a:p>
        </p:txBody>
      </p:sp>
      <p:sp>
        <p:nvSpPr>
          <p:cNvPr id="299" name="Google Shape;299;p8"/>
          <p:cNvSpPr txBox="1"/>
          <p:nvPr/>
        </p:nvSpPr>
        <p:spPr>
          <a:xfrm>
            <a:off x="868680" y="38404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Sprints de una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durante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Fase 2.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Checkpoints con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2, 7 y 11.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WhatsApp para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coordinación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diaria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resolución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rápida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bloqueos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GitHub con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ramas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módulo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Pull Requests.</a:t>
            </a:r>
            <a:endParaRPr dirty="0"/>
          </a:p>
        </p:txBody>
      </p:sp>
      <p:sp>
        <p:nvSpPr>
          <p:cNvPr id="300" name="Google Shape;300;p8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302" name="Google Shape;302;p8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9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" name="Google Shape;309;p9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162B43"/>
                </a:solidFill>
                <a:latin typeface="Calibri"/>
                <a:ea typeface="Calibri"/>
                <a:cs typeface="Calibri"/>
                <a:sym typeface="Calibri"/>
              </a:rPr>
              <a:t>8. Carta Gantt — Fase 2</a:t>
            </a:r>
            <a:endParaRPr/>
          </a:p>
        </p:txBody>
      </p:sp>
      <p:sp>
        <p:nvSpPr>
          <p:cNvPr id="310" name="Google Shape;310;p9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5C7494"/>
                </a:solidFill>
                <a:latin typeface="Calibri"/>
                <a:ea typeface="Calibri"/>
                <a:cs typeface="Calibri"/>
                <a:sym typeface="Calibri"/>
              </a:rPr>
              <a:t>Plan de trabajo — 11 semanas</a:t>
            </a:r>
            <a:endParaRPr/>
          </a:p>
        </p:txBody>
      </p:sp>
      <p:sp>
        <p:nvSpPr>
          <p:cNvPr id="311" name="Google Shape;311;p9"/>
          <p:cNvSpPr/>
          <p:nvPr/>
        </p:nvSpPr>
        <p:spPr>
          <a:xfrm>
            <a:off x="594360" y="1417320"/>
            <a:ext cx="1417320" cy="502920"/>
          </a:xfrm>
          <a:prstGeom prst="rect">
            <a:avLst/>
          </a:prstGeom>
          <a:solidFill>
            <a:srgbClr val="122337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 txBox="1"/>
          <p:nvPr/>
        </p:nvSpPr>
        <p:spPr>
          <a:xfrm>
            <a:off x="667512" y="1508760"/>
            <a:ext cx="127101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Periodo</a:t>
            </a:r>
            <a:endParaRPr/>
          </a:p>
        </p:txBody>
      </p:sp>
      <p:sp>
        <p:nvSpPr>
          <p:cNvPr id="313" name="Google Shape;313;p9"/>
          <p:cNvSpPr/>
          <p:nvPr/>
        </p:nvSpPr>
        <p:spPr>
          <a:xfrm>
            <a:off x="2011680" y="1417320"/>
            <a:ext cx="7040880" cy="502920"/>
          </a:xfrm>
          <a:prstGeom prst="rect">
            <a:avLst/>
          </a:prstGeom>
          <a:solidFill>
            <a:srgbClr val="122337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9"/>
          <p:cNvSpPr txBox="1"/>
          <p:nvPr/>
        </p:nvSpPr>
        <p:spPr>
          <a:xfrm>
            <a:off x="2084832" y="1508760"/>
            <a:ext cx="689457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Actividad</a:t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9052560" y="1417320"/>
            <a:ext cx="2377440" cy="502920"/>
          </a:xfrm>
          <a:prstGeom prst="rect">
            <a:avLst/>
          </a:prstGeom>
          <a:solidFill>
            <a:srgbClr val="122337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 txBox="1"/>
          <p:nvPr/>
        </p:nvSpPr>
        <p:spPr>
          <a:xfrm>
            <a:off x="9125712" y="1508760"/>
            <a:ext cx="2231136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Responsable</a:t>
            </a:r>
            <a:endParaRPr/>
          </a:p>
        </p:txBody>
      </p:sp>
      <p:sp>
        <p:nvSpPr>
          <p:cNvPr id="317" name="Google Shape;317;p9"/>
          <p:cNvSpPr/>
          <p:nvPr/>
        </p:nvSpPr>
        <p:spPr>
          <a:xfrm>
            <a:off x="594360" y="1938528"/>
            <a:ext cx="141732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9"/>
          <p:cNvSpPr txBox="1"/>
          <p:nvPr/>
        </p:nvSpPr>
        <p:spPr>
          <a:xfrm>
            <a:off x="667512" y="2029968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1–2</a:t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2011680" y="1938528"/>
            <a:ext cx="704088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 txBox="1"/>
          <p:nvPr/>
        </p:nvSpPr>
        <p:spPr>
          <a:xfrm>
            <a:off x="2084832" y="2029968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Requisitos + proceso AS-IS</a:t>
            </a:r>
            <a:endParaRPr/>
          </a:p>
        </p:txBody>
      </p:sp>
      <p:sp>
        <p:nvSpPr>
          <p:cNvPr id="321" name="Google Shape;321;p9"/>
          <p:cNvSpPr/>
          <p:nvPr/>
        </p:nvSpPr>
        <p:spPr>
          <a:xfrm>
            <a:off x="9052560" y="1938528"/>
            <a:ext cx="237744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9"/>
          <p:cNvSpPr txBox="1"/>
          <p:nvPr/>
        </p:nvSpPr>
        <p:spPr>
          <a:xfrm>
            <a:off x="9125712" y="2029968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Juan</a:t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94360" y="2459736"/>
            <a:ext cx="141732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 txBox="1"/>
          <p:nvPr/>
        </p:nvSpPr>
        <p:spPr>
          <a:xfrm>
            <a:off x="667512" y="2551176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1</a:t>
            </a:r>
            <a:endParaRPr/>
          </a:p>
        </p:txBody>
      </p:sp>
      <p:sp>
        <p:nvSpPr>
          <p:cNvPr id="325" name="Google Shape;325;p9"/>
          <p:cNvSpPr/>
          <p:nvPr/>
        </p:nvSpPr>
        <p:spPr>
          <a:xfrm>
            <a:off x="2011680" y="2459736"/>
            <a:ext cx="704088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9"/>
          <p:cNvSpPr txBox="1"/>
          <p:nvPr/>
        </p:nvSpPr>
        <p:spPr>
          <a:xfrm>
            <a:off x="2084832" y="2551176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Repositorio + CI/CD</a:t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9052560" y="2459736"/>
            <a:ext cx="237744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 txBox="1"/>
          <p:nvPr/>
        </p:nvSpPr>
        <p:spPr>
          <a:xfrm>
            <a:off x="9125712" y="2551176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Equipo</a:t>
            </a:r>
            <a:endParaRPr/>
          </a:p>
        </p:txBody>
      </p:sp>
      <p:sp>
        <p:nvSpPr>
          <p:cNvPr id="329" name="Google Shape;329;p9"/>
          <p:cNvSpPr/>
          <p:nvPr/>
        </p:nvSpPr>
        <p:spPr>
          <a:xfrm>
            <a:off x="594360" y="2980944"/>
            <a:ext cx="141732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9"/>
          <p:cNvSpPr txBox="1"/>
          <p:nvPr/>
        </p:nvSpPr>
        <p:spPr>
          <a:xfrm>
            <a:off x="667512" y="3072384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2–3</a:t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2011680" y="2980944"/>
            <a:ext cx="704088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 txBox="1"/>
          <p:nvPr/>
        </p:nvSpPr>
        <p:spPr>
          <a:xfrm>
            <a:off x="2084832" y="3072384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Datos + </a:t>
            </a:r>
            <a:r>
              <a:rPr lang="en-US" sz="1100" dirty="0" err="1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arquitectura</a:t>
            </a:r>
            <a:endParaRPr dirty="0"/>
          </a:p>
        </p:txBody>
      </p:sp>
      <p:sp>
        <p:nvSpPr>
          <p:cNvPr id="333" name="Google Shape;333;p9"/>
          <p:cNvSpPr/>
          <p:nvPr/>
        </p:nvSpPr>
        <p:spPr>
          <a:xfrm>
            <a:off x="9052560" y="2980944"/>
            <a:ext cx="237744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9"/>
          <p:cNvSpPr txBox="1"/>
          <p:nvPr/>
        </p:nvSpPr>
        <p:spPr>
          <a:xfrm>
            <a:off x="9125712" y="3072384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Javier</a:t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594360" y="3502152"/>
            <a:ext cx="141732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 txBox="1"/>
          <p:nvPr/>
        </p:nvSpPr>
        <p:spPr>
          <a:xfrm>
            <a:off x="667512" y="3593592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3–5</a:t>
            </a:r>
            <a:endParaRPr/>
          </a:p>
        </p:txBody>
      </p:sp>
      <p:sp>
        <p:nvSpPr>
          <p:cNvPr id="337" name="Google Shape;337;p9"/>
          <p:cNvSpPr/>
          <p:nvPr/>
        </p:nvSpPr>
        <p:spPr>
          <a:xfrm>
            <a:off x="2011680" y="3502152"/>
            <a:ext cx="704088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9"/>
          <p:cNvSpPr txBox="1"/>
          <p:nvPr/>
        </p:nvSpPr>
        <p:spPr>
          <a:xfrm>
            <a:off x="2084832" y="3593592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Panel web + agendamiento</a:t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9052560" y="3502152"/>
            <a:ext cx="237744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 txBox="1"/>
          <p:nvPr/>
        </p:nvSpPr>
        <p:spPr>
          <a:xfrm>
            <a:off x="9125712" y="3593592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Juan</a:t>
            </a:r>
            <a:endParaRPr/>
          </a:p>
        </p:txBody>
      </p:sp>
      <p:sp>
        <p:nvSpPr>
          <p:cNvPr id="341" name="Google Shape;341;p9"/>
          <p:cNvSpPr/>
          <p:nvPr/>
        </p:nvSpPr>
        <p:spPr>
          <a:xfrm>
            <a:off x="594360" y="4023360"/>
            <a:ext cx="141732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 txBox="1"/>
          <p:nvPr/>
        </p:nvSpPr>
        <p:spPr>
          <a:xfrm>
            <a:off x="667512" y="4114800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5–7</a:t>
            </a:r>
            <a:endParaRPr/>
          </a:p>
        </p:txBody>
      </p:sp>
      <p:sp>
        <p:nvSpPr>
          <p:cNvPr id="343" name="Google Shape;343;p9"/>
          <p:cNvSpPr/>
          <p:nvPr/>
        </p:nvSpPr>
        <p:spPr>
          <a:xfrm>
            <a:off x="2011680" y="4023360"/>
            <a:ext cx="704088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9"/>
          <p:cNvSpPr txBox="1"/>
          <p:nvPr/>
        </p:nvSpPr>
        <p:spPr>
          <a:xfrm>
            <a:off x="2084832" y="4114800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Agente WhatsApp + IA</a:t>
            </a:r>
            <a:endParaRPr/>
          </a:p>
        </p:txBody>
      </p:sp>
      <p:sp>
        <p:nvSpPr>
          <p:cNvPr id="345" name="Google Shape;345;p9"/>
          <p:cNvSpPr/>
          <p:nvPr/>
        </p:nvSpPr>
        <p:spPr>
          <a:xfrm>
            <a:off x="9052560" y="4023360"/>
            <a:ext cx="237744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9"/>
          <p:cNvSpPr txBox="1"/>
          <p:nvPr/>
        </p:nvSpPr>
        <p:spPr>
          <a:xfrm>
            <a:off x="9125712" y="4114800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Juan</a:t>
            </a:r>
            <a:endParaRPr/>
          </a:p>
        </p:txBody>
      </p:sp>
      <p:sp>
        <p:nvSpPr>
          <p:cNvPr id="347" name="Google Shape;347;p9"/>
          <p:cNvSpPr/>
          <p:nvPr/>
        </p:nvSpPr>
        <p:spPr>
          <a:xfrm>
            <a:off x="594360" y="4544568"/>
            <a:ext cx="141732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9"/>
          <p:cNvSpPr txBox="1"/>
          <p:nvPr/>
        </p:nvSpPr>
        <p:spPr>
          <a:xfrm>
            <a:off x="667512" y="4636007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7–9</a:t>
            </a:r>
            <a:endParaRPr/>
          </a:p>
        </p:txBody>
      </p:sp>
      <p:sp>
        <p:nvSpPr>
          <p:cNvPr id="349" name="Google Shape;349;p9"/>
          <p:cNvSpPr/>
          <p:nvPr/>
        </p:nvSpPr>
        <p:spPr>
          <a:xfrm>
            <a:off x="2011680" y="4544568"/>
            <a:ext cx="704088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9"/>
          <p:cNvSpPr txBox="1"/>
          <p:nvPr/>
        </p:nvSpPr>
        <p:spPr>
          <a:xfrm>
            <a:off x="2084832" y="4636007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Croquis geoespacial + IA</a:t>
            </a:r>
            <a:endParaRPr/>
          </a:p>
        </p:txBody>
      </p:sp>
      <p:sp>
        <p:nvSpPr>
          <p:cNvPr id="351" name="Google Shape;351;p9"/>
          <p:cNvSpPr/>
          <p:nvPr/>
        </p:nvSpPr>
        <p:spPr>
          <a:xfrm>
            <a:off x="9052560" y="4544568"/>
            <a:ext cx="237744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9"/>
          <p:cNvSpPr txBox="1"/>
          <p:nvPr/>
        </p:nvSpPr>
        <p:spPr>
          <a:xfrm>
            <a:off x="9125712" y="4636007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Pedro</a:t>
            </a:r>
            <a:endParaRPr/>
          </a:p>
        </p:txBody>
      </p:sp>
      <p:sp>
        <p:nvSpPr>
          <p:cNvPr id="353" name="Google Shape;353;p9"/>
          <p:cNvSpPr/>
          <p:nvPr/>
        </p:nvSpPr>
        <p:spPr>
          <a:xfrm>
            <a:off x="594360" y="5065776"/>
            <a:ext cx="141732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9"/>
          <p:cNvSpPr txBox="1"/>
          <p:nvPr/>
        </p:nvSpPr>
        <p:spPr>
          <a:xfrm>
            <a:off x="667512" y="5157216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9–10</a:t>
            </a:r>
            <a:endParaRPr/>
          </a:p>
        </p:txBody>
      </p:sp>
      <p:sp>
        <p:nvSpPr>
          <p:cNvPr id="355" name="Google Shape;355;p9"/>
          <p:cNvSpPr/>
          <p:nvPr/>
        </p:nvSpPr>
        <p:spPr>
          <a:xfrm>
            <a:off x="2011680" y="5065776"/>
            <a:ext cx="704088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9"/>
          <p:cNvSpPr txBox="1"/>
          <p:nvPr/>
        </p:nvSpPr>
        <p:spPr>
          <a:xfrm>
            <a:off x="2084832" y="5157216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Aplicación móvil</a:t>
            </a:r>
            <a:endParaRPr/>
          </a:p>
        </p:txBody>
      </p:sp>
      <p:sp>
        <p:nvSpPr>
          <p:cNvPr id="357" name="Google Shape;357;p9"/>
          <p:cNvSpPr/>
          <p:nvPr/>
        </p:nvSpPr>
        <p:spPr>
          <a:xfrm>
            <a:off x="9052560" y="5065776"/>
            <a:ext cx="2377440" cy="512064"/>
          </a:xfrm>
          <a:prstGeom prst="rect">
            <a:avLst/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9"/>
          <p:cNvSpPr txBox="1"/>
          <p:nvPr/>
        </p:nvSpPr>
        <p:spPr>
          <a:xfrm>
            <a:off x="9125712" y="5157216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Javier</a:t>
            </a:r>
            <a:endParaRPr/>
          </a:p>
        </p:txBody>
      </p:sp>
      <p:sp>
        <p:nvSpPr>
          <p:cNvPr id="359" name="Google Shape;359;p9"/>
          <p:cNvSpPr/>
          <p:nvPr/>
        </p:nvSpPr>
        <p:spPr>
          <a:xfrm>
            <a:off x="594360" y="5586983"/>
            <a:ext cx="141732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9"/>
          <p:cNvSpPr txBox="1"/>
          <p:nvPr/>
        </p:nvSpPr>
        <p:spPr>
          <a:xfrm>
            <a:off x="667512" y="5678423"/>
            <a:ext cx="127101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Sem. 11</a:t>
            </a:r>
            <a:endParaRPr/>
          </a:p>
        </p:txBody>
      </p:sp>
      <p:sp>
        <p:nvSpPr>
          <p:cNvPr id="361" name="Google Shape;361;p9"/>
          <p:cNvSpPr/>
          <p:nvPr/>
        </p:nvSpPr>
        <p:spPr>
          <a:xfrm>
            <a:off x="2011680" y="5586983"/>
            <a:ext cx="704088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" name="Google Shape;362;p9"/>
          <p:cNvSpPr txBox="1"/>
          <p:nvPr/>
        </p:nvSpPr>
        <p:spPr>
          <a:xfrm>
            <a:off x="2084832" y="5678423"/>
            <a:ext cx="689457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Integración + pruebas + cierre</a:t>
            </a:r>
            <a:endParaRPr/>
          </a:p>
        </p:txBody>
      </p:sp>
      <p:sp>
        <p:nvSpPr>
          <p:cNvPr id="363" name="Google Shape;363;p9"/>
          <p:cNvSpPr/>
          <p:nvPr/>
        </p:nvSpPr>
        <p:spPr>
          <a:xfrm>
            <a:off x="9052560" y="5586983"/>
            <a:ext cx="2377440" cy="512064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9"/>
          <p:cNvSpPr txBox="1"/>
          <p:nvPr/>
        </p:nvSpPr>
        <p:spPr>
          <a:xfrm>
            <a:off x="9125712" y="5678423"/>
            <a:ext cx="2231136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Pedro</a:t>
            </a:r>
            <a:endParaRPr/>
          </a:p>
        </p:txBody>
      </p:sp>
      <p:sp>
        <p:nvSpPr>
          <p:cNvPr id="365" name="Google Shape;365;p9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9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367" name="Google Shape;367;p9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  <p:sp>
        <p:nvSpPr>
          <p:cNvPr id="368" name="Google Shape;368;p9"/>
          <p:cNvSpPr txBox="1"/>
          <p:nvPr/>
        </p:nvSpPr>
        <p:spPr>
          <a:xfrm>
            <a:off x="658368" y="1234440"/>
            <a:ext cx="10241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50" i="1">
                <a:solidFill>
                  <a:srgbClr val="5C7494"/>
                </a:solidFill>
                <a:latin typeface="Arial"/>
                <a:ea typeface="Arial"/>
                <a:cs typeface="Arial"/>
                <a:sym typeface="Arial"/>
              </a:rPr>
              <a:t>Nota para docente: confirmar si la Carta Gantt debe extenderse para incorporar explícitamente Fase 1 y Fase 3 en la versión final.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9. Gestión de riesgos</a:t>
            </a:r>
            <a:endParaRPr/>
          </a:p>
        </p:txBody>
      </p:sp>
      <p:sp>
        <p:nvSpPr>
          <p:cNvPr id="376" name="Google Shape;376;p10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Riesgos principales y mitigaciones</a:t>
            </a:r>
            <a:endParaRPr/>
          </a:p>
        </p:txBody>
      </p:sp>
      <p:sp>
        <p:nvSpPr>
          <p:cNvPr id="377" name="Google Shape;377;p10"/>
          <p:cNvSpPr/>
          <p:nvPr/>
        </p:nvSpPr>
        <p:spPr>
          <a:xfrm>
            <a:off x="64008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640080" y="14173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 txBox="1"/>
          <p:nvPr/>
        </p:nvSpPr>
        <p:spPr>
          <a:xfrm>
            <a:off x="86868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 no disponible</a:t>
            </a:r>
            <a:endParaRPr/>
          </a:p>
        </p:txBody>
      </p:sp>
      <p:sp>
        <p:nvSpPr>
          <p:cNvPr id="380" name="Google Shape;380;p10"/>
          <p:cNvSpPr txBox="1"/>
          <p:nvPr/>
        </p:nvSpPr>
        <p:spPr>
          <a:xfrm>
            <a:off x="868680" y="21031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Checkpoints fijos + recopilar información al inicio.</a:t>
            </a:r>
            <a:endParaRPr/>
          </a:p>
        </p:txBody>
      </p:sp>
      <p:sp>
        <p:nvSpPr>
          <p:cNvPr id="381" name="Google Shape;381;p10"/>
          <p:cNvSpPr/>
          <p:nvPr/>
        </p:nvSpPr>
        <p:spPr>
          <a:xfrm>
            <a:off x="443484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4434840" y="14173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 txBox="1"/>
          <p:nvPr/>
        </p:nvSpPr>
        <p:spPr>
          <a:xfrm>
            <a:off x="466344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personales</a:t>
            </a: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/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ubicación</a:t>
            </a:r>
            <a:endParaRPr dirty="0"/>
          </a:p>
        </p:txBody>
      </p:sp>
      <p:sp>
        <p:nvSpPr>
          <p:cNvPr id="384" name="Google Shape;384;p10"/>
          <p:cNvSpPr txBox="1"/>
          <p:nvPr/>
        </p:nvSpPr>
        <p:spPr>
          <a:xfrm>
            <a:off x="4663440" y="21031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dirty="0"/>
          </a:p>
        </p:txBody>
      </p:sp>
      <p:sp>
        <p:nvSpPr>
          <p:cNvPr id="385" name="Google Shape;385;p10"/>
          <p:cNvSpPr/>
          <p:nvPr/>
        </p:nvSpPr>
        <p:spPr>
          <a:xfrm>
            <a:off x="822960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8229600" y="14173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 txBox="1"/>
          <p:nvPr/>
        </p:nvSpPr>
        <p:spPr>
          <a:xfrm>
            <a:off x="845820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Baja precisión de IA</a:t>
            </a:r>
            <a:endParaRPr/>
          </a:p>
        </p:txBody>
      </p:sp>
      <p:sp>
        <p:nvSpPr>
          <p:cNvPr id="388" name="Google Shape;388;p10"/>
          <p:cNvSpPr txBox="1"/>
          <p:nvPr/>
        </p:nvSpPr>
        <p:spPr>
          <a:xfrm>
            <a:off x="8458200" y="21031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Derivación humana + iteración con casos reales.</a:t>
            </a:r>
            <a:endParaRPr/>
          </a:p>
        </p:txBody>
      </p:sp>
      <p:sp>
        <p:nvSpPr>
          <p:cNvPr id="389" name="Google Shape;389;p10"/>
          <p:cNvSpPr/>
          <p:nvPr/>
        </p:nvSpPr>
        <p:spPr>
          <a:xfrm>
            <a:off x="64008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640080" y="34747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86868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Restricciones de WhatsApp API</a:t>
            </a:r>
            <a:endParaRPr/>
          </a:p>
        </p:txBody>
      </p:sp>
      <p:sp>
        <p:nvSpPr>
          <p:cNvPr id="392" name="Google Shape;392;p10"/>
          <p:cNvSpPr txBox="1"/>
          <p:nvPr/>
        </p:nvSpPr>
        <p:spPr>
          <a:xfrm>
            <a:off x="868680" y="41605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Twilio + formulario web como respaldo.</a:t>
            </a:r>
            <a:endParaRPr/>
          </a:p>
        </p:txBody>
      </p:sp>
      <p:sp>
        <p:nvSpPr>
          <p:cNvPr id="393" name="Google Shape;393;p10"/>
          <p:cNvSpPr/>
          <p:nvPr/>
        </p:nvSpPr>
        <p:spPr>
          <a:xfrm>
            <a:off x="443484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4434840" y="34747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 txBox="1"/>
          <p:nvPr/>
        </p:nvSpPr>
        <p:spPr>
          <a:xfrm>
            <a:off x="466344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no viable</a:t>
            </a:r>
            <a:endParaRPr/>
          </a:p>
        </p:txBody>
      </p:sp>
      <p:sp>
        <p:nvSpPr>
          <p:cNvPr id="396" name="Google Shape;396;p10"/>
          <p:cNvSpPr txBox="1"/>
          <p:nvPr/>
        </p:nvSpPr>
        <p:spPr>
          <a:xfrm>
            <a:off x="4663440" y="41605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Human-in-the-loop: validación obligatoria.</a:t>
            </a:r>
            <a:endParaRPr/>
          </a:p>
        </p:txBody>
      </p:sp>
      <p:sp>
        <p:nvSpPr>
          <p:cNvPr id="397" name="Google Shape;397;p10"/>
          <p:cNvSpPr/>
          <p:nvPr/>
        </p:nvSpPr>
        <p:spPr>
          <a:xfrm>
            <a:off x="822960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8229600" y="34747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 txBox="1"/>
          <p:nvPr/>
        </p:nvSpPr>
        <p:spPr>
          <a:xfrm>
            <a:off x="845820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Conectividad en terreno</a:t>
            </a:r>
            <a:endParaRPr/>
          </a:p>
        </p:txBody>
      </p:sp>
      <p:sp>
        <p:nvSpPr>
          <p:cNvPr id="400" name="Google Shape;400;p10"/>
          <p:cNvSpPr txBox="1"/>
          <p:nvPr/>
        </p:nvSpPr>
        <p:spPr>
          <a:xfrm>
            <a:off x="8458200" y="416052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Guardado local + sincronización posterior.</a:t>
            </a:r>
            <a:endParaRPr/>
          </a:p>
        </p:txBody>
      </p:sp>
      <p:sp>
        <p:nvSpPr>
          <p:cNvPr id="401" name="Google Shape;401;p10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03" name="Google Shape;403;p10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10. Consideraciones de ingeniería</a:t>
            </a:r>
            <a:endParaRPr/>
          </a:p>
        </p:txBody>
      </p:sp>
      <p:sp>
        <p:nvSpPr>
          <p:cNvPr id="411" name="Google Shape;411;p11"/>
          <p:cNvSpPr txBox="1"/>
          <p:nvPr/>
        </p:nvSpPr>
        <p:spPr>
          <a:xfrm>
            <a:off x="612648" y="987552"/>
            <a:ext cx="1078992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Seguridad, trazabilidad y calidad</a:t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68580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Seguridad</a:t>
            </a:r>
            <a:endParaRPr/>
          </a:p>
        </p:txBody>
      </p:sp>
      <p:sp>
        <p:nvSpPr>
          <p:cNvPr id="415" name="Google Shape;415;p11"/>
          <p:cNvSpPr txBox="1"/>
          <p:nvPr/>
        </p:nvSpPr>
        <p:spPr>
          <a:xfrm>
            <a:off x="914400" y="2194560"/>
            <a:ext cx="29718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Datos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personales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exacta de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propiedades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requieren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diferenciada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dirty="0"/>
          </a:p>
        </p:txBody>
      </p:sp>
      <p:sp>
        <p:nvSpPr>
          <p:cNvPr id="416" name="Google Shape;416;p11"/>
          <p:cNvSpPr/>
          <p:nvPr/>
        </p:nvSpPr>
        <p:spPr>
          <a:xfrm>
            <a:off x="438912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43891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Human-in-the-loop</a:t>
            </a:r>
            <a:endParaRPr/>
          </a:p>
        </p:txBody>
      </p:sp>
      <p:sp>
        <p:nvSpPr>
          <p:cNvPr id="419" name="Google Shape;419;p11"/>
          <p:cNvSpPr txBox="1"/>
          <p:nvPr/>
        </p:nvSpPr>
        <p:spPr>
          <a:xfrm>
            <a:off x="4617720" y="2194560"/>
            <a:ext cx="29718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 IA entrega recomendaciones; el operador mantiene la decisión final sobre el croquis.</a:t>
            </a:r>
            <a:endParaRPr/>
          </a:p>
        </p:txBody>
      </p:sp>
      <p:sp>
        <p:nvSpPr>
          <p:cNvPr id="420" name="Google Shape;420;p11"/>
          <p:cNvSpPr/>
          <p:nvPr/>
        </p:nvSpPr>
        <p:spPr>
          <a:xfrm>
            <a:off x="809244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8092440" y="1508760"/>
            <a:ext cx="73152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Calidad</a:t>
            </a:r>
            <a:endParaRPr/>
          </a:p>
        </p:txBody>
      </p:sp>
      <p:sp>
        <p:nvSpPr>
          <p:cNvPr id="423" name="Google Shape;423;p11"/>
          <p:cNvSpPr txBox="1"/>
          <p:nvPr/>
        </p:nvSpPr>
        <p:spPr>
          <a:xfrm>
            <a:off x="8321040" y="2194560"/>
            <a:ext cx="2971800" cy="9601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 automatizadas, CI/CD y validación end-to-end para reducir errores antes de cada entrega.</a:t>
            </a:r>
            <a:endParaRPr/>
          </a:p>
        </p:txBody>
      </p:sp>
      <p:sp>
        <p:nvSpPr>
          <p:cNvPr id="424" name="Google Shape;424;p11"/>
          <p:cNvSpPr txBox="1"/>
          <p:nvPr/>
        </p:nvSpPr>
        <p:spPr>
          <a:xfrm>
            <a:off x="868680" y="3977639"/>
            <a:ext cx="10241280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integra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bases de datos,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web/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ágil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busca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demostrar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profesionales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un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problema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empresarial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mantiene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desde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425" name="Google Shape;425;p11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1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27" name="Google Shape;427;p11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1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2337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2"/>
          <p:cNvSpPr txBox="1"/>
          <p:nvPr/>
        </p:nvSpPr>
        <p:spPr>
          <a:xfrm>
            <a:off x="731520" y="594360"/>
            <a:ext cx="10789920" cy="6400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11. Conclusiones</a:t>
            </a:r>
            <a:endParaRPr/>
          </a:p>
        </p:txBody>
      </p:sp>
      <p:sp>
        <p:nvSpPr>
          <p:cNvPr id="434" name="Google Shape;434;p12"/>
          <p:cNvSpPr/>
          <p:nvPr/>
        </p:nvSpPr>
        <p:spPr>
          <a:xfrm>
            <a:off x="731520" y="1508760"/>
            <a:ext cx="3337560" cy="2880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731520" y="1508760"/>
            <a:ext cx="73152" cy="2880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 txBox="1"/>
          <p:nvPr/>
        </p:nvSpPr>
        <p:spPr>
          <a:xfrm>
            <a:off x="960120" y="1691639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Valor empresarial</a:t>
            </a:r>
            <a:endParaRPr/>
          </a:p>
        </p:txBody>
      </p:sp>
      <p:sp>
        <p:nvSpPr>
          <p:cNvPr id="437" name="Google Shape;437;p12"/>
          <p:cNvSpPr txBox="1"/>
          <p:nvPr/>
        </p:nvSpPr>
        <p:spPr>
          <a:xfrm>
            <a:off x="960120" y="2194560"/>
            <a:ext cx="2926079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Digitalizar un proceso actualmente manual, reduciendo tiempos, dependencia operativa y falta de trazabilidad.</a:t>
            </a:r>
            <a:endParaRPr/>
          </a:p>
        </p:txBody>
      </p:sp>
      <p:sp>
        <p:nvSpPr>
          <p:cNvPr id="438" name="Google Shape;438;p12"/>
          <p:cNvSpPr/>
          <p:nvPr/>
        </p:nvSpPr>
        <p:spPr>
          <a:xfrm>
            <a:off x="4434840" y="1508760"/>
            <a:ext cx="3337560" cy="2880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2"/>
          <p:cNvSpPr/>
          <p:nvPr/>
        </p:nvSpPr>
        <p:spPr>
          <a:xfrm>
            <a:off x="4434840" y="1508760"/>
            <a:ext cx="73152" cy="2880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 txBox="1"/>
          <p:nvPr/>
        </p:nvSpPr>
        <p:spPr>
          <a:xfrm>
            <a:off x="4663440" y="1691639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Valor tecnológico</a:t>
            </a:r>
            <a:endParaRPr/>
          </a:p>
        </p:txBody>
      </p:sp>
      <p:sp>
        <p:nvSpPr>
          <p:cNvPr id="441" name="Google Shape;441;p12"/>
          <p:cNvSpPr txBox="1"/>
          <p:nvPr/>
        </p:nvSpPr>
        <p:spPr>
          <a:xfrm>
            <a:off x="4663440" y="2194560"/>
            <a:ext cx="2926079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Integra IA,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bases de datos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geoespaciales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web y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una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coherente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</p:txBody>
      </p:sp>
      <p:sp>
        <p:nvSpPr>
          <p:cNvPr id="442" name="Google Shape;442;p12"/>
          <p:cNvSpPr/>
          <p:nvPr/>
        </p:nvSpPr>
        <p:spPr>
          <a:xfrm>
            <a:off x="8138160" y="1508760"/>
            <a:ext cx="3337560" cy="2880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2"/>
          <p:cNvSpPr/>
          <p:nvPr/>
        </p:nvSpPr>
        <p:spPr>
          <a:xfrm>
            <a:off x="8138160" y="1508760"/>
            <a:ext cx="73152" cy="2880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2"/>
          <p:cNvSpPr txBox="1"/>
          <p:nvPr/>
        </p:nvSpPr>
        <p:spPr>
          <a:xfrm>
            <a:off x="8366760" y="1691639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Valor académico</a:t>
            </a:r>
            <a:endParaRPr/>
          </a:p>
        </p:txBody>
      </p:sp>
      <p:sp>
        <p:nvSpPr>
          <p:cNvPr id="445" name="Google Shape;445;p12"/>
          <p:cNvSpPr txBox="1"/>
          <p:nvPr/>
        </p:nvSpPr>
        <p:spPr>
          <a:xfrm>
            <a:off x="8366760" y="2194560"/>
            <a:ext cx="2926079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Permite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demostrar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informática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proyecto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2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necesidades</a:t>
            </a:r>
            <a:r>
              <a:rPr lang="en-US" sz="12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reales.</a:t>
            </a:r>
            <a:endParaRPr dirty="0"/>
          </a:p>
        </p:txBody>
      </p:sp>
      <p:sp>
        <p:nvSpPr>
          <p:cNvPr id="446" name="Google Shape;446;p12"/>
          <p:cNvSpPr txBox="1"/>
          <p:nvPr/>
        </p:nvSpPr>
        <p:spPr>
          <a:xfrm>
            <a:off x="822960" y="4983480"/>
            <a:ext cx="10515600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Resultado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esperado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: una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plataforma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funcional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,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medible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validada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que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estandarice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el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flujo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completo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de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atención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y </a:t>
            </a:r>
            <a:r>
              <a:rPr lang="en-US" sz="18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operación</a:t>
            </a:r>
            <a:r>
              <a:rPr lang="en-US" sz="1800" b="1" dirty="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dirty="0"/>
          </a:p>
        </p:txBody>
      </p:sp>
      <p:sp>
        <p:nvSpPr>
          <p:cNvPr id="447" name="Google Shape;447;p12"/>
          <p:cNvSpPr txBox="1"/>
          <p:nvPr/>
        </p:nvSpPr>
        <p:spPr>
          <a:xfrm>
            <a:off x="822960" y="5943600"/>
            <a:ext cx="10515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Gracias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0" name="Color Cover">
            <a:extLst>
              <a:ext uri="{FF2B5EF4-FFF2-40B4-BE49-F238E27FC236}">
                <a16:creationId xmlns:a16="http://schemas.microsoft.com/office/drawing/2014/main" id="{63C1F321-BB96-4700-B3CE-1A615606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3FA1AD64-F15F-417D-956C-B2C211FC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1" y="0"/>
            <a:ext cx="6064235" cy="6858000"/>
            <a:chOff x="651279" y="598259"/>
            <a:chExt cx="10889442" cy="5680742"/>
          </a:xfrm>
        </p:grpSpPr>
        <p:sp>
          <p:nvSpPr>
            <p:cNvPr id="463" name="Color">
              <a:extLst>
                <a:ext uri="{FF2B5EF4-FFF2-40B4-BE49-F238E27FC236}">
                  <a16:creationId xmlns:a16="http://schemas.microsoft.com/office/drawing/2014/main" id="{5F3C79B0-E0DE-407E-B550-3FDEB67B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4" name="Color">
              <a:extLst>
                <a:ext uri="{FF2B5EF4-FFF2-40B4-BE49-F238E27FC236}">
                  <a16:creationId xmlns:a16="http://schemas.microsoft.com/office/drawing/2014/main" id="{A1A2DFA8-F321-4204-9B31-A3713BC652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453" name="Google Shape;453;g3f8b47fad44_0_0"/>
          <p:cNvSpPr txBox="1"/>
          <p:nvPr/>
        </p:nvSpPr>
        <p:spPr>
          <a:xfrm>
            <a:off x="789708" y="841664"/>
            <a:ext cx="4874661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37160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Calibri"/>
              </a:rPr>
              <a:t>GITHUB</a:t>
            </a:r>
          </a:p>
        </p:txBody>
      </p:sp>
      <p:sp>
        <p:nvSpPr>
          <p:cNvPr id="452" name="Google Shape;452;g3f8b47fad44_0_0"/>
          <p:cNvSpPr txBox="1"/>
          <p:nvPr/>
        </p:nvSpPr>
        <p:spPr>
          <a:xfrm>
            <a:off x="6534687" y="841664"/>
            <a:ext cx="4867605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https://</a:t>
            </a:r>
            <a:r>
              <a:rPr lang="en-US" sz="24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github.com</a:t>
            </a: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/j4vierlb/PROYECTO-TESIS-/tree/main/Fase%201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1159</Words>
  <Application>Microsoft Macintosh PowerPoint</Application>
  <PresentationFormat>Panorámica</PresentationFormat>
  <Paragraphs>185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17" baseType="lpstr">
      <vt:lpstr>Calibri</vt:lpstr>
      <vt:lpstr>Play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ayline correa</cp:lastModifiedBy>
  <cp:revision>2</cp:revision>
  <dcterms:created xsi:type="dcterms:W3CDTF">2013-01-27T09:14:16Z</dcterms:created>
  <dcterms:modified xsi:type="dcterms:W3CDTF">2026-09-01T18:04:12Z</dcterms:modified>
</cp:coreProperties>
</file>